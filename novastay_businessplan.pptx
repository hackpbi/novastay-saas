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3" r:id="rId14"/>
    <p:sldId id="267" r:id="rId15"/>
    <p:sldId id="268" r:id="rId16"/>
    <p:sldId id="269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97" autoAdjust="0"/>
    <p:restoredTop sz="58967" autoAdjust="0"/>
  </p:normalViewPr>
  <p:slideViewPr>
    <p:cSldViewPr snapToGrid="0" snapToObjects="1">
      <p:cViewPr>
        <p:scale>
          <a:sx n="66" d="100"/>
          <a:sy n="66" d="100"/>
        </p:scale>
        <p:origin x="158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490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안녕하십니까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주식회사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노바스테이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대표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문병윤입니다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저는 오늘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호텔이 더 이상 감이 아닌 데이터로 돈을 버는 시대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만들어갈 사업을 소개해드리려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호텔 객실 수익관리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SaaS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플랫폼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호텔의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레비뉴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메니지먼트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자동화 솔루션인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노바스테이의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핵심은 단 하나입니다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Revenue Manager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없이도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최적의 객실 가격을 스스로 찾아 실행한다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.“</a:t>
            </a:r>
          </a:p>
          <a:p>
            <a:pPr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수요 예측부터 가격 전략 수립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PMS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연동 실행까지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모든 과정을 하나의 플랫폼 안에서 자동으로 처리합니다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1"/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수익 모델도 월 구독형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컨설팅 연계형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OEM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라이선스 등 고객 상황에 맞게 유연하게 운영합니다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잠깐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현실을 한번 짚어보겠습니다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지금 국내 중소 호텔 대부분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어떻게 객실 요금을 정하고 있을까요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담당자가 직접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OTA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열어보고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경쟁사 요금을 눈으로 확인하고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지난 주 실적을 참고해서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정도면 되겠지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라며 요금을 입력합니다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이게 지금의 현실입니다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 구조적인 문제가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담당자 개인의 경험과 감에 전적으로 의존합니다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사람이 바뀌면 전략도 흔들립니다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OTA,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예약 시스템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 매니저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데이터가 여기저기 흩어져 있어 통합 분석 자체가 어렵습니다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셋째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기존 글로벌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RMS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대형 호텔 위주 설계라 비용도 비싸고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도입 난이도도 너무 높습니다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넷째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분석은 할 수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있어도그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분석이 자동으로 전략이 되고 실행까지 이어지는 시스템이 없습니다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그렇다면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문제를 가진 시장은 얼마나 클까요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국내 숙박업의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**85%**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바로 중소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독립 호텔입니다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실에서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150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 규모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RM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인력 없이 운영하는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숙박업체들이죠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글로벌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RMS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솔루션들이 이 시장에 들어오지 못하고 있는 이유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아까 말씀드린 대로입니다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비싸고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한국어도 안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바로 이공백을 선점하려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국내 경량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SaaS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기반 수익관리 시장의 퍼스트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무버입니다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노바스테이가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제공하는 솔루션은 크게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가지입니다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 번째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객실요금 추천입니다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머신러닝과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강화학습 알고리즘이 실시간으로 최적 요금을 제안합니다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번째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매출 분석 리포트입니다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OCC, ADR, RevPAR —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수익관리의 핵심 지표를 자동으로 분석해 드립니다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 번째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웹 운영 대시보드입니다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요금 캘린더를 통해 담당자가 언제 어디서든 확인하고 승인할 수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 번째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관광 수요 데이터 반영입니다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지역 행사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날씨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트렌드 데이터를 결합해 가격에 반영합니다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이건 글로벌 경쟁사 어디도 하지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못하는노바스테이만의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기능입니다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다섯 번째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전략 자동 도출입니다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가격 조정부터 채널 믹스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프로모션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최소 숙박일까지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분석이 곧 전략이 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전략이 곧 실행으로 이어집니다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 구조를 간략히 말씀드리겠습니다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인프라는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클라우드기반으로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자동 확장과 장애 복구를 지원합니다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화면에서 입력한 데이터가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서버를 통해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엔진으로 전달되고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수요 예측과 가격 추천 결과가 다시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PMS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자동 연동되는 구조입니다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복잡해 보이지만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 입장에서는 그냥 웹 브라우저 하나만 열면 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설치 불필요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즉시 사용 가능입니다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수익 구조는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단계로 설계했습니다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처음 도입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시초기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세팅비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구독료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여기에 독특한 장치가 하나 더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전년 대비 매출 증가분의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20%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인센티브로 청구하는 성과 연동 모델입니다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왜 이 구조를 택했을까요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고객 입장에서 이 말을 들었을 때 어떤 느낌이 들까요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 돈을 벌어드릴 자신이 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신호입니다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도입 리스크가 없으니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망설임도 없습니다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대형 글로벌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RMS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~500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원 이상입니다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저희는 그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분의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수준으로 같은 기능을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더 한국 시장에 맞게 제공합니다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글로벌 경쟁사로는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IDeaS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Duetto, Atomize,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BEONx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모두 훌륭한 솔루션입니다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 이들의 공통점이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한국어를 지원하지 않습니다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한국 관광 데이터를 반영하지 않습니다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중소 호텔에는 너무 비쌉니다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HotelTechReport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2025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소형 호텔에 가장 적합하다는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Atomize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원 이상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Duetto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추정 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원을 훌쩍 넘습니다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그 어느 솔루션도강화학습 기반 가격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최적화와지역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관광 수요 데이터 연계를 함께 제공하지 않습니다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이것이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노바스테이가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 시장에서 이길 수 있는 이유입니다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성장 로드맵은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Entry—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국내 중소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독립 호텔 시장을 집중 공략합니다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.2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Scale-up— B2B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파트너십과 위탁 운영사를 통해 빠르게 확산합니다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Global—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동남아 등 유사 구조의 아시아 시장으로 진출합니다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국내에서 검증된 모델로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아시아 중소 호텔 시장 전체를 공략하는 것이 최종 목표입니다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년부터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2030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년까지의 누적 매출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목표는총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30.8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 이상입니다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구체적으로 보면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중소형 독립 호텔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계약으로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신라스테이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등 체인 호텔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대형 독립 호텔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원수준입니다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처음부터 수백 개를 목표로 하지 않습니다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.50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 충성 고객을 확보하고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성과로 레퍼런스를 쌓고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그것으로 다음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개를 여는 전략입니다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현실적이고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실행 가능한 숫자입니다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타임라인 상으로는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상반기 서비스 기반 구축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하반기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MVP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개발 및 검증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2026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~2027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초 상용화 및 고도화로 계획하고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 일정이 진행 중입니다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2321A-E9B9-08A7-F14F-6726C2484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E275A-B262-9E5F-3EC9-3B5136E06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E4144B-0FCD-986A-D732-281E251C9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185F5-99E5-B9D1-81AC-F6F41D4EB9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1948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이제 가장 중요한 부분을 말씀드리겠습니다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우리가 실제로 효과를 증명했느냐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데이터는 저희 팀이 직접 컨설팅 형태로 적용했던 실제 현장 성과입니다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연평균 객실 점유율은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62.0%,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연간 객실 매출은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23.8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원이었습니다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저희 전략을 적용한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2025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년에는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연평균 점유율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**76.9%**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14.9%p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상승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매출은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28.4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19.3%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증가했습니다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이론이 아닙니다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호텔에서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데이터로 검증된 결과입니다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노바스테이는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이미 효과를 증명한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전략을시스템화하는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작업을 하고 있는 것입니다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38065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마지막으로 팀을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소개드립니다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문병윤은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힐튼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사우스케이프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호텔 등에서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14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이상객실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영업과 수익관리 실무를 담당했습니다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우리 팀의 핵심 멤버는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IHG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본사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신라스테이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RM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출신전문가로 구성되어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기술 파트너사인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인터루드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커뮤니케이션즈와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함께 개발을 진행 중입니다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팀은 현장을 압니다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데이터를 압니다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호텔이 무엇을 원하는지 압니다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자금 조달 측면에서는 초기창업패키지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경남관광스타트업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3,000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만 원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등총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1.3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억 원 규모의 정부지원사업 신청을 완료했습니다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중장기적으로는 자체 매출 성장을 기반으로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Series A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민간 투자 유치를 계획하고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호텔은 매일 밤 비는 객실이 있습니다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객실은 절대 되돌릴 수 없는 손실입니다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노바스테이는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그 손실을 줄이고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작은 호텔도 데이터로 경쟁하는 시대를 만들겠습니다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atinLnBrk="1"/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경청해 주셔서 감사합니다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726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Relationship Id="rId9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.png"/><Relationship Id="rId4" Type="http://schemas.openxmlformats.org/officeDocument/2006/relationships/image" Target="../media/image31.png"/><Relationship Id="rId9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.png"/><Relationship Id="rId9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11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image" Target="../media/image1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novastay.co.kr/test/zenithoptima.html" TargetMode="External"/><Relationship Id="rId4" Type="http://schemas.openxmlformats.org/officeDocument/2006/relationships/image" Target="../media/image7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1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11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11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 t="-1" b="-1"/>
          <a:stretch/>
        </p:blipFill>
        <p:spPr>
          <a:xfrm>
            <a:off x="9601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86207" y="286207"/>
            <a:ext cx="11620195" cy="6286500"/>
          </a:xfrm>
          <a:prstGeom prst="rect">
            <a:avLst/>
          </a:prstGeom>
          <a:noFill/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86207" y="286207"/>
            <a:ext cx="1429207" cy="1920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86207" y="286207"/>
            <a:ext cx="19202" cy="1429207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477195" y="6553505"/>
            <a:ext cx="1429207" cy="1920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887200" y="5143500"/>
            <a:ext cx="19202" cy="1429207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140964" y="2211934"/>
            <a:ext cx="59152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720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NOVASTAY</a:t>
            </a:r>
            <a:endParaRPr lang="en-US" sz="7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3520439" y="3697834"/>
            <a:ext cx="5691293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AI 기반 호텔 객실 수익관리</a:t>
            </a:r>
            <a:endParaRPr 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SaaS 플랫폼 </a:t>
            </a:r>
            <a:endParaRPr 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>
            <a:alphaModFix amt="80000"/>
          </a:blip>
          <a:srcRect t="-400" b="-400"/>
          <a:stretch/>
        </p:blipFill>
        <p:spPr>
          <a:xfrm>
            <a:off x="5639105" y="3279038"/>
            <a:ext cx="914400" cy="3840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868826" y="5146243"/>
            <a:ext cx="446044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90" dirty="0">
                <a:solidFill>
                  <a:srgbClr val="D1D5DB">
                    <a:alpha val="90000"/>
                  </a:srgb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Revenue Management 자동화 솔루션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 9"/>
          <p:cNvSpPr txBox="1"/>
          <p:nvPr/>
        </p:nvSpPr>
        <p:spPr>
          <a:xfrm>
            <a:off x="-95098" y="609905"/>
            <a:ext cx="12382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경상국립대학교 창업보육센터 입주 사업계획서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1524305" y="5705856"/>
            <a:ext cx="9144000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2827325" y="5943600"/>
            <a:ext cx="1743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Company</a:t>
            </a:r>
            <a:r>
              <a:rPr lang="en-US" sz="900" kern="0" spc="22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주식회사 노바스테이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4791456" y="5943600"/>
            <a:ext cx="114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900" dirty="0"/>
          </a:p>
        </p:txBody>
      </p:sp>
      <p:sp>
        <p:nvSpPr>
          <p:cNvPr id="19" name="Text 13"/>
          <p:cNvSpPr txBox="1"/>
          <p:nvPr/>
        </p:nvSpPr>
        <p:spPr>
          <a:xfrm>
            <a:off x="5127955" y="5943600"/>
            <a:ext cx="7525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CEO</a:t>
            </a:r>
            <a:r>
              <a:rPr lang="en-US" sz="900" kern="0" spc="22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문병윤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6105449" y="5943600"/>
            <a:ext cx="114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6441948" y="5943600"/>
            <a:ext cx="11567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Est.</a:t>
            </a:r>
            <a:r>
              <a:rPr lang="en-US" sz="900" kern="0" spc="22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2026.  3. 16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7714793" y="5943600"/>
            <a:ext cx="1143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8051292" y="5943600"/>
            <a:ext cx="154990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Reg. No.</a:t>
            </a:r>
            <a:r>
              <a:rPr lang="en-US" sz="900" kern="0" spc="22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286-87-03688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-95098" y="6172200"/>
            <a:ext cx="12382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" dirty="0">
                <a:solidFill>
                  <a:srgbClr val="4B5563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경상남도 진주시 북장대로21번길 5-3(인사동)</a:t>
            </a:r>
            <a:endParaRPr 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A612C09F-680C-1127-B1F9-67E12C6AA8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5449252" y="893825"/>
            <a:ext cx="1293190" cy="11910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63594" y="0"/>
            <a:ext cx="8134502" cy="6858000"/>
          </a:xfrm>
          <a:prstGeom prst="rect">
            <a:avLst/>
          </a:prstGeom>
          <a:solidFill>
            <a:srgbClr val="2334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20794" y="457200"/>
            <a:ext cx="3495751" cy="2857500"/>
          </a:xfrm>
          <a:prstGeom prst="rect">
            <a:avLst/>
          </a:prstGeom>
          <a:solidFill>
            <a:srgbClr val="233457">
              <a:alpha val="6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835347" y="771754"/>
            <a:ext cx="476402" cy="476402"/>
          </a:xfrm>
          <a:prstGeom prst="ellips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77994" y="914400"/>
            <a:ext cx="190195" cy="19019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35347" y="1399946"/>
            <a:ext cx="30577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창업 아이템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835347" y="1819656"/>
            <a:ext cx="29434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AI 기반 수요 예측 모델과 강화학습을 결합하여 시장 변화에 실시간으로 대응하는 가격 전략 수립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835347" y="2723998"/>
            <a:ext cx="2866644" cy="9144"/>
          </a:xfrm>
          <a:prstGeom prst="rect">
            <a:avLst/>
          </a:prstGeom>
          <a:solidFill>
            <a:srgbClr val="4B5563">
              <a:alpha val="30000"/>
            </a:srgbClr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835347" y="2848356"/>
            <a:ext cx="2981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chemeClr val="tx1">
                    <a:lumMod val="95000"/>
                    <a:lumOff val="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Demand Forecasting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377870" y="457200"/>
            <a:ext cx="3495751" cy="2857500"/>
          </a:xfrm>
          <a:prstGeom prst="rect">
            <a:avLst/>
          </a:prstGeom>
          <a:solidFill>
            <a:srgbClr val="233457">
              <a:alpha val="6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556041" y="771754"/>
            <a:ext cx="476402" cy="476402"/>
          </a:xfrm>
          <a:prstGeom prst="ellips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675827" y="914400"/>
            <a:ext cx="237744" cy="1901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556041" y="1399946"/>
            <a:ext cx="30577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제품 서비스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8556041" y="1819656"/>
            <a:ext cx="2943454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AI 기반 디지털 Revenue Manager SaaS.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인간 매니저를 보조하거나 대체할 수 있는 자동화 솔루션 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8556041" y="2723998"/>
            <a:ext cx="2866644" cy="9144"/>
          </a:xfrm>
          <a:prstGeom prst="rect">
            <a:avLst/>
          </a:prstGeom>
          <a:solidFill>
            <a:srgbClr val="4B5563">
              <a:alpha val="30000"/>
            </a:srgbClr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556041" y="2848356"/>
            <a:ext cx="2981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chemeClr val="tx1">
                    <a:lumMod val="95000"/>
                    <a:lumOff val="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SaaS Platform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4520794" y="3543300"/>
            <a:ext cx="3495751" cy="2857500"/>
          </a:xfrm>
          <a:prstGeom prst="rect">
            <a:avLst/>
          </a:prstGeom>
          <a:solidFill>
            <a:srgbClr val="233457">
              <a:alpha val="6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35347" y="3857854"/>
            <a:ext cx="476402" cy="476402"/>
          </a:xfrm>
          <a:prstGeom prst="ellips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977994" y="4000500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835347" y="4486046"/>
            <a:ext cx="30577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핵심 기능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4835347" y="4905756"/>
            <a:ext cx="29434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데이터 분석부터 전략 수립, 실행까지 일원화.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예측 → 분석 → 전략 생성 → PMS 연동 실행 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4835347" y="5810098"/>
            <a:ext cx="2866644" cy="9144"/>
          </a:xfrm>
          <a:prstGeom prst="rect">
            <a:avLst/>
          </a:prstGeom>
          <a:solidFill>
            <a:srgbClr val="4B5563">
              <a:alpha val="30000"/>
            </a:srgbClr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835347" y="5934456"/>
            <a:ext cx="2981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chemeClr val="tx1">
                    <a:lumMod val="95000"/>
                    <a:lumOff val="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All-in-One Process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6" name="Shape 20"/>
          <p:cNvSpPr/>
          <p:nvPr/>
        </p:nvSpPr>
        <p:spPr>
          <a:xfrm>
            <a:off x="8377870" y="3543300"/>
            <a:ext cx="3495751" cy="2857500"/>
          </a:xfrm>
          <a:prstGeom prst="rect">
            <a:avLst/>
          </a:prstGeom>
          <a:solidFill>
            <a:srgbClr val="233457">
              <a:alpha val="6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556041" y="3857854"/>
            <a:ext cx="476402" cy="476402"/>
          </a:xfrm>
          <a:prstGeom prst="ellips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8684971" y="4000500"/>
            <a:ext cx="219456" cy="19019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556041" y="4486046"/>
            <a:ext cx="30577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수익화 모델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8556041" y="4905756"/>
            <a:ext cx="3355646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고객 맞춤형 요금제 운영: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월 구독형 / 컨설팅 연계형 / OEM 라이선스 (위탁운영사) 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8556041" y="5810098"/>
            <a:ext cx="2866644" cy="9144"/>
          </a:xfrm>
          <a:prstGeom prst="rect">
            <a:avLst/>
          </a:prstGeom>
          <a:solidFill>
            <a:srgbClr val="4B5563">
              <a:alpha val="30000"/>
            </a:srgbClr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556041" y="5934456"/>
            <a:ext cx="29818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chemeClr val="tx1">
                    <a:lumMod val="95000"/>
                    <a:lumOff val="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Business Model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3" name="Shape 26"/>
          <p:cNvSpPr/>
          <p:nvPr/>
        </p:nvSpPr>
        <p:spPr>
          <a:xfrm>
            <a:off x="0" y="0"/>
            <a:ext cx="4067251" cy="6858000"/>
          </a:xfrm>
          <a:prstGeom prst="rect">
            <a:avLst/>
          </a:prstGeom>
          <a:solidFill>
            <a:srgbClr val="1522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7200" y="457200"/>
            <a:ext cx="3267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chemeClr val="tx1">
                    <a:lumMod val="95000"/>
                    <a:lumOff val="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NOVASTAY Business Plan</a:t>
            </a:r>
            <a:endParaRPr lang="en-US" sz="900" dirty="0">
              <a:solidFill>
                <a:schemeClr val="tx1">
                  <a:lumMod val="95000"/>
                  <a:lumOff val="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457200" y="761695"/>
            <a:ext cx="3458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사업 개요</a:t>
            </a:r>
            <a:endParaRPr 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6" name="Text 29"/>
          <p:cNvSpPr txBox="1"/>
          <p:nvPr/>
        </p:nvSpPr>
        <p:spPr>
          <a:xfrm>
            <a:off x="457200" y="1295705"/>
            <a:ext cx="32671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Business Overview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t="-400" b="-400"/>
          <a:stretch/>
        </p:blipFill>
        <p:spPr>
          <a:xfrm>
            <a:off x="457200" y="1867205"/>
            <a:ext cx="571500" cy="3840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57200" y="2133295"/>
            <a:ext cx="3229661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AI·머신러닝 기반 </a:t>
            </a:r>
            <a:r>
              <a:rPr lang="en-US" sz="1300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수요 예측</a:t>
            </a:r>
            <a:r>
              <a:rPr lang="en-US" sz="13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과 </a:t>
            </a:r>
            <a:r>
              <a:rPr lang="en-US" sz="1300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강화학습 알고리즘</a:t>
            </a:r>
            <a:r>
              <a:rPr lang="en-US" sz="13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을 활용하여 호텔 객실 가격 및 판매 전략을 자동으로 생성하는 시스템입니다. 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457200" y="3236062"/>
            <a:ext cx="114300" cy="13350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85800" y="3197657"/>
            <a:ext cx="21067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전문 RM 없이도 최적 수익 관리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9"/>
          <a:srcRect t="-1100" b="-1100"/>
          <a:stretch/>
        </p:blipFill>
        <p:spPr>
          <a:xfrm>
            <a:off x="457200" y="3654857"/>
            <a:ext cx="114300" cy="13350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85800" y="3617366"/>
            <a:ext cx="17657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데이터 기반 자동화 솔루션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3" name="Shape 33"/>
          <p:cNvSpPr/>
          <p:nvPr/>
        </p:nvSpPr>
        <p:spPr>
          <a:xfrm>
            <a:off x="457200" y="5934456"/>
            <a:ext cx="3152851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4" name="Text 34"/>
          <p:cNvSpPr txBox="1"/>
          <p:nvPr/>
        </p:nvSpPr>
        <p:spPr>
          <a:xfrm>
            <a:off x="457200" y="6248095"/>
            <a:ext cx="32671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주식회사 노바스테이 (</a:t>
            </a:r>
            <a:r>
              <a:rPr lang="en-US" sz="9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NOVASTAY</a:t>
            </a: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1343254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218895" y="457200"/>
            <a:ext cx="25557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Problem Statement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1218895" y="724205"/>
            <a:ext cx="3362249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문제 인식 </a:t>
            </a:r>
            <a:r>
              <a:rPr lang="en-US" sz="1800" b="1" kern="0" spc="-67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Problem</a:t>
            </a:r>
            <a:endParaRPr lang="en-US" sz="27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684057" y="923544"/>
            <a:ext cx="229331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호텔 수익 관리의 4가지 핵심 장벽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71500" y="1580998"/>
            <a:ext cx="5429707" cy="2352751"/>
          </a:xfrm>
          <a:prstGeom prst="roundRect">
            <a:avLst>
              <a:gd name="adj" fmla="val 2518"/>
            </a:avLst>
          </a:prstGeom>
          <a:solidFill>
            <a:srgbClr val="233457">
              <a:alpha val="40000"/>
            </a:srgbClr>
          </a:solidFill>
          <a:ln w="12700">
            <a:solidFill>
              <a:srgbClr val="C9A84C">
                <a:alpha val="15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332222" y="1546301"/>
            <a:ext cx="7580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3000"/>
                  </a:srgb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01</a:t>
            </a:r>
            <a:endParaRPr 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66851" y="18763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1052474" y="2048256"/>
            <a:ext cx="200254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28546" y="1876349"/>
            <a:ext cx="42675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전략 수립의 경험 의존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1628546" y="2219249"/>
            <a:ext cx="4191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Dependence on Experience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1756562" y="2486254"/>
            <a:ext cx="40352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중소형 숙박업의 전문 RM(Revenue Manager) 인력 부족 심화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1756562" y="2790749"/>
            <a:ext cx="40297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데이터보다는 담당자의 경험과 감각에 의존하여 인력 교체 시 성과 변동 리스크 발생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6191402" y="1580998"/>
            <a:ext cx="5429707" cy="2352751"/>
          </a:xfrm>
          <a:prstGeom prst="roundRect">
            <a:avLst>
              <a:gd name="adj" fmla="val 2518"/>
            </a:avLst>
          </a:prstGeom>
          <a:solidFill>
            <a:srgbClr val="233457">
              <a:alpha val="40000"/>
            </a:srgbClr>
          </a:solidFill>
          <a:ln w="12700">
            <a:solidFill>
              <a:srgbClr val="C9A84C">
                <a:alpha val="1500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954258" y="1552651"/>
            <a:ext cx="7644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3000"/>
                  </a:srgb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02</a:t>
            </a:r>
            <a:endParaRPr 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486754" y="1876349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6644030" y="2048256"/>
            <a:ext cx="256946" cy="2286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248449" y="1876349"/>
            <a:ext cx="42675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데이터 분산 및 해석 부담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7248449" y="2219249"/>
            <a:ext cx="4191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Data Fragmentation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7376465" y="2486254"/>
            <a:ext cx="4879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OTA, 예약, 채널, 취소율 등 데이터가 여러 곳에 분산되어 통합 분석 곤란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7376465" y="2790749"/>
            <a:ext cx="40297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분석 결과가 '실행 가능한 전략 지침'으로 직결되지 않아 현장 적용의 한계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71500" y="4123944"/>
            <a:ext cx="5429707" cy="2352751"/>
          </a:xfrm>
          <a:prstGeom prst="roundRect">
            <a:avLst>
              <a:gd name="adj" fmla="val 2518"/>
            </a:avLst>
          </a:prstGeom>
          <a:solidFill>
            <a:srgbClr val="233457">
              <a:alpha val="40000"/>
            </a:srgbClr>
          </a:solidFill>
          <a:ln w="12700">
            <a:solidFill>
              <a:srgbClr val="C9A84C">
                <a:alpha val="1500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271770" y="4032098"/>
            <a:ext cx="7644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3000"/>
                  </a:srgb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03</a:t>
            </a:r>
            <a:endParaRPr 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866851" y="4419295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1024128" y="4591202"/>
            <a:ext cx="256946" cy="2286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28546" y="4419295"/>
            <a:ext cx="4191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기존</a:t>
            </a: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 RMS도입 장벽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1628546" y="4762195"/>
            <a:ext cx="4191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High Barrier to Entry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0" name="Text 24"/>
          <p:cNvSpPr txBox="1"/>
          <p:nvPr/>
        </p:nvSpPr>
        <p:spPr>
          <a:xfrm>
            <a:off x="1756562" y="5029200"/>
            <a:ext cx="40297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기존 솔루션은 높은 도입 비용과 복잡한 운영 난이도로 대형 호텔 위주 설계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1" name="Text 25"/>
          <p:cNvSpPr txBox="1"/>
          <p:nvPr/>
        </p:nvSpPr>
        <p:spPr>
          <a:xfrm>
            <a:off x="1756562" y="5471770"/>
            <a:ext cx="4319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중소형 호텔이 접근하기 어려운 비용 구조 및 세팅/운영 인력 요구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6191402" y="4123944"/>
            <a:ext cx="5429707" cy="2352751"/>
          </a:xfrm>
          <a:prstGeom prst="roundRect">
            <a:avLst>
              <a:gd name="adj" fmla="val 2518"/>
            </a:avLst>
          </a:prstGeom>
          <a:solidFill>
            <a:srgbClr val="233457">
              <a:alpha val="40000"/>
            </a:srgbClr>
          </a:solidFill>
          <a:ln w="12700">
            <a:solidFill>
              <a:srgbClr val="C9A84C">
                <a:alpha val="1500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10980572" y="4101948"/>
            <a:ext cx="76443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3000"/>
                  </a:srgb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04</a:t>
            </a:r>
            <a:endParaRPr 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4" name="Shape 28"/>
          <p:cNvSpPr/>
          <p:nvPr/>
        </p:nvSpPr>
        <p:spPr>
          <a:xfrm>
            <a:off x="6486754" y="4419295"/>
            <a:ext cx="571500" cy="571500"/>
          </a:xfrm>
          <a:prstGeom prst="roundRect">
            <a:avLst>
              <a:gd name="adj" fmla="val 64000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657746" y="4591202"/>
            <a:ext cx="228600" cy="2286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248449" y="4419295"/>
            <a:ext cx="42675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자동 의사결정의 부재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7" name="Text 30"/>
          <p:cNvSpPr txBox="1"/>
          <p:nvPr/>
        </p:nvSpPr>
        <p:spPr>
          <a:xfrm>
            <a:off x="7248449" y="4762195"/>
            <a:ext cx="41916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Lack of Automation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8" name="Text 31"/>
          <p:cNvSpPr txBox="1"/>
          <p:nvPr/>
        </p:nvSpPr>
        <p:spPr>
          <a:xfrm>
            <a:off x="7376465" y="5029200"/>
            <a:ext cx="33430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AI 도입은 확대되나 단순 예측·분석 수준에 머무름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9" name="Text 32"/>
          <p:cNvSpPr txBox="1"/>
          <p:nvPr/>
        </p:nvSpPr>
        <p:spPr>
          <a:xfrm>
            <a:off x="7376465" y="5333695"/>
            <a:ext cx="40297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'판매 전략 생성'과 '실행' 단계가 분리되어 운영 효율성을 충분히 끌어올리지 못함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0" name="Text 33"/>
          <p:cNvSpPr txBox="1"/>
          <p:nvPr/>
        </p:nvSpPr>
        <p:spPr>
          <a:xfrm>
            <a:off x="11256264" y="6476695"/>
            <a:ext cx="7150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NOVASTAY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810098" y="4250131"/>
            <a:ext cx="571500" cy="571500"/>
          </a:xfrm>
          <a:prstGeom prst="rect">
            <a:avLst/>
          </a:prstGeom>
        </p:spPr>
      </p:pic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 l="-9615" r="-9615"/>
          <a:stretch/>
        </p:blipFill>
        <p:spPr>
          <a:xfrm>
            <a:off x="6081674" y="4441241"/>
            <a:ext cx="28346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867351" y="0"/>
            <a:ext cx="9144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457200"/>
            <a:ext cx="4067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Analysis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457200" y="761695"/>
            <a:ext cx="411114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목표 시장</a:t>
            </a:r>
            <a:endParaRPr 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분석</a:t>
            </a:r>
            <a:endParaRPr lang="en-US" sz="36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57200" y="2057400"/>
            <a:ext cx="4067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Target Market &amp; Opportunity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4926" y="2704795"/>
            <a:ext cx="2857500" cy="28575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041855" y="3866998"/>
            <a:ext cx="7909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85%</a:t>
            </a:r>
            <a:endParaRPr lang="en-US" sz="2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2010766" y="4248302"/>
            <a:ext cx="8531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중소/독립 호텔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339595" y="5867705"/>
            <a:ext cx="225027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국내 숙박업 시장의 대다수를 차지하는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중소·독립형 호텔</a:t>
            </a: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을 집중 공략 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457200" y="6301130"/>
            <a:ext cx="40672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NOVASTAY Business Plan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17" b="-17"/>
          <a:stretch/>
        </p:blipFill>
        <p:spPr>
          <a:xfrm>
            <a:off x="5333695" y="1061618"/>
            <a:ext cx="6400800" cy="131490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658307" y="1300277"/>
            <a:ext cx="457200" cy="4572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790895" y="1433779"/>
            <a:ext cx="190195" cy="1901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305702" y="1300277"/>
            <a:ext cx="42958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주요 목표 고객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305702" y="1719072"/>
            <a:ext cx="105156" cy="1143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486754" y="1681582"/>
            <a:ext cx="2021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객실 30~150실 중소·독립 호텔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8507578" y="1719072"/>
            <a:ext cx="105156" cy="1143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688629" y="1681582"/>
            <a:ext cx="1886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전문 RM 인력 부재 숙박업체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6305702" y="1986077"/>
            <a:ext cx="105156" cy="1143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6486754" y="1947672"/>
            <a:ext cx="13066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대형호텔 RM 담당자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7"/>
          <a:srcRect l="-2571" r="-2571"/>
          <a:stretch/>
        </p:blipFill>
        <p:spPr>
          <a:xfrm>
            <a:off x="8507578" y="1986077"/>
            <a:ext cx="105156" cy="11430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8688629" y="1947672"/>
            <a:ext cx="198699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위탁운영사 및 호텔 운영 기업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8"/>
          <a:srcRect t="-2" b="-2"/>
          <a:stretch/>
        </p:blipFill>
        <p:spPr>
          <a:xfrm>
            <a:off x="5333695" y="2566721"/>
            <a:ext cx="6400800" cy="1335938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5658307" y="2805379"/>
            <a:ext cx="457200" cy="4572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938882"/>
            <a:ext cx="190195" cy="190195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6305702" y="2805379"/>
            <a:ext cx="41056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시장 배경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9" name="Text 17"/>
          <p:cNvSpPr txBox="1"/>
          <p:nvPr/>
        </p:nvSpPr>
        <p:spPr>
          <a:xfrm>
            <a:off x="6305702" y="3185770"/>
            <a:ext cx="443118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관광산업의 </a:t>
            </a: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디지털 전환(DX) 가속화</a:t>
            </a: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로 데이터 기반 경영 수요 증가 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0" name="Text 18"/>
          <p:cNvSpPr txBox="1"/>
          <p:nvPr/>
        </p:nvSpPr>
        <p:spPr>
          <a:xfrm>
            <a:off x="6305702" y="3479292"/>
            <a:ext cx="4648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※ 기존 글로벌 RMS는 고가 정책과 복잡한 기능으로 대형 체인 호텔 중심 시장 형성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0"/>
          <a:srcRect t="-11" b="-11"/>
          <a:stretch/>
        </p:blipFill>
        <p:spPr>
          <a:xfrm>
            <a:off x="5333695" y="4093769"/>
            <a:ext cx="6400800" cy="1512418"/>
          </a:xfrm>
          <a:prstGeom prst="rect">
            <a:avLst/>
          </a:prstGeom>
        </p:spPr>
      </p:pic>
      <p:sp>
        <p:nvSpPr>
          <p:cNvPr id="32" name="Shape 19"/>
          <p:cNvSpPr/>
          <p:nvPr/>
        </p:nvSpPr>
        <p:spPr>
          <a:xfrm>
            <a:off x="5658307" y="4331513"/>
            <a:ext cx="457200" cy="4572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790895" y="4465015"/>
            <a:ext cx="190195" cy="190195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6305702" y="4331513"/>
            <a:ext cx="4562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시장 기회 (Opportunity)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" name="Text 21"/>
          <p:cNvSpPr txBox="1"/>
          <p:nvPr/>
        </p:nvSpPr>
        <p:spPr>
          <a:xfrm>
            <a:off x="6305702" y="4712818"/>
            <a:ext cx="53117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국내 경량 SaaS 기반 수익관리 시스템 시장은 성장 가능성이 매우 높은 초기 단계 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6" name="Shape 22"/>
          <p:cNvSpPr/>
          <p:nvPr/>
        </p:nvSpPr>
        <p:spPr>
          <a:xfrm>
            <a:off x="6348037" y="5043830"/>
            <a:ext cx="1104595" cy="323698"/>
          </a:xfrm>
          <a:prstGeom prst="roundRect">
            <a:avLst>
              <a:gd name="adj" fmla="val 664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7" name="Text 23"/>
          <p:cNvSpPr txBox="1"/>
          <p:nvPr/>
        </p:nvSpPr>
        <p:spPr>
          <a:xfrm>
            <a:off x="6348036" y="5043830"/>
            <a:ext cx="1320157" cy="32369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초기 시장 선점</a:t>
            </a:r>
            <a:endParaRPr 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8" name="Shape 24"/>
          <p:cNvSpPr/>
          <p:nvPr/>
        </p:nvSpPr>
        <p:spPr>
          <a:xfrm>
            <a:off x="7708395" y="5043830"/>
            <a:ext cx="990295" cy="323698"/>
          </a:xfrm>
          <a:prstGeom prst="roundRect">
            <a:avLst>
              <a:gd name="adj" fmla="val 664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9" name="Text 25"/>
          <p:cNvSpPr txBox="1"/>
          <p:nvPr/>
        </p:nvSpPr>
        <p:spPr>
          <a:xfrm>
            <a:off x="7708395" y="5043830"/>
            <a:ext cx="104790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SaaS 확장성</a:t>
            </a:r>
            <a:endParaRPr 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0" name="Shape 26"/>
          <p:cNvSpPr/>
          <p:nvPr/>
        </p:nvSpPr>
        <p:spPr>
          <a:xfrm>
            <a:off x="8772757" y="5043830"/>
            <a:ext cx="923544" cy="323698"/>
          </a:xfrm>
          <a:prstGeom prst="roundRect">
            <a:avLst>
              <a:gd name="adj" fmla="val 664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41" name="Text 27"/>
          <p:cNvSpPr txBox="1"/>
          <p:nvPr/>
        </p:nvSpPr>
        <p:spPr>
          <a:xfrm>
            <a:off x="8738892" y="5043830"/>
            <a:ext cx="981151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데이터 독점</a:t>
            </a:r>
            <a:endParaRPr 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9905" y="381305"/>
            <a:ext cx="47055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Solution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09905" y="647395"/>
            <a:ext cx="627004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숙박업 객단가 판매 전략 시스템</a:t>
            </a:r>
            <a:endParaRPr lang="en-US" sz="27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528609" y="685800"/>
            <a:ext cx="30550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데이터 기반 의사결정을 위한 5가지 핵심 기능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rcRect t="-400" b="-400"/>
          <a:stretch/>
        </p:blipFill>
        <p:spPr>
          <a:xfrm>
            <a:off x="10668305" y="990295"/>
            <a:ext cx="914400" cy="384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1257300"/>
            <a:ext cx="3534156" cy="2409444"/>
          </a:xfrm>
          <a:prstGeom prst="roundRect">
            <a:avLst>
              <a:gd name="adj" fmla="val 3600"/>
            </a:avLst>
          </a:prstGeom>
          <a:solidFill>
            <a:srgbClr val="233457">
              <a:alpha val="50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71500" y="1257300"/>
            <a:ext cx="38405" cy="2383841"/>
          </a:xfrm>
          <a:prstGeom prst="rect">
            <a:avLst/>
          </a:prstGeom>
          <a:solidFill>
            <a:srgbClr val="C9A84C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498494" y="1457554"/>
            <a:ext cx="5056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01</a:t>
            </a:r>
            <a:endParaRPr lang="en-US" sz="3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809244" y="1495044"/>
            <a:ext cx="533095" cy="533095"/>
          </a:xfrm>
          <a:prstGeom prst="ellipse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61949" y="1647749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9244" y="2180844"/>
            <a:ext cx="32488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AI 객실요금 추천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809244" y="2562149"/>
            <a:ext cx="3134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머신러닝 기반으로 수요를 예측하고 최적의 객실 요금을 실시간으로 제안하는 알고리즘 탑재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330598" y="1257300"/>
            <a:ext cx="3534156" cy="2409444"/>
          </a:xfrm>
          <a:prstGeom prst="roundRect">
            <a:avLst>
              <a:gd name="adj" fmla="val 3600"/>
            </a:avLst>
          </a:prstGeom>
          <a:solidFill>
            <a:srgbClr val="233457">
              <a:alpha val="50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330598" y="1257300"/>
            <a:ext cx="38405" cy="2383841"/>
          </a:xfrm>
          <a:prstGeom prst="rect">
            <a:avLst/>
          </a:prstGeom>
          <a:solidFill>
            <a:srgbClr val="C9A84C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209130" y="1457554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02</a:t>
            </a:r>
            <a:endParaRPr lang="en-US" sz="3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68342" y="1495044"/>
            <a:ext cx="533095" cy="533095"/>
          </a:xfrm>
          <a:prstGeom prst="ellipse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4706417" y="1647749"/>
            <a:ext cx="256946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68342" y="2180844"/>
            <a:ext cx="32488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매출 분석 리포트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4568342" y="2562149"/>
            <a:ext cx="3134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객실 점유율(OCC), 평균 객실료(ADR), 객실당 매출(RevPAR) 등 핵심 지표 자동 분석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8089697" y="1257300"/>
            <a:ext cx="3534156" cy="2409444"/>
          </a:xfrm>
          <a:prstGeom prst="roundRect">
            <a:avLst>
              <a:gd name="adj" fmla="val 3600"/>
            </a:avLst>
          </a:prstGeom>
          <a:solidFill>
            <a:srgbClr val="233457">
              <a:alpha val="50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089697" y="1257300"/>
            <a:ext cx="38405" cy="2383841"/>
          </a:xfrm>
          <a:prstGeom prst="rect">
            <a:avLst/>
          </a:prstGeom>
          <a:solidFill>
            <a:srgbClr val="C9A84C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10968228" y="1457554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03</a:t>
            </a:r>
            <a:endParaRPr lang="en-US" sz="3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8328355" y="1495044"/>
            <a:ext cx="533095" cy="533095"/>
          </a:xfrm>
          <a:prstGeom prst="ellipse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rcRect t="-45" b="-45"/>
          <a:stretch/>
        </p:blipFill>
        <p:spPr>
          <a:xfrm>
            <a:off x="8466430" y="1647749"/>
            <a:ext cx="256946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328355" y="2180844"/>
            <a:ext cx="32488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웹 운영 대시보드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8328355" y="2562149"/>
            <a:ext cx="31345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직관적인 요금 캘린더와 추천 요금 승인/반려 기능을 갖춘 관리자 전용 웹 인터페이스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1524305" y="3888943"/>
            <a:ext cx="4457700" cy="2495398"/>
          </a:xfrm>
          <a:prstGeom prst="roundRect">
            <a:avLst>
              <a:gd name="adj" fmla="val 3357"/>
            </a:avLst>
          </a:prstGeom>
          <a:solidFill>
            <a:srgbClr val="233457">
              <a:alpha val="50000"/>
            </a:srgbClr>
          </a:solidFill>
          <a:ln w="12700">
            <a:solidFill>
              <a:srgbClr val="C9A84C">
                <a:alpha val="20000"/>
              </a:srgbClr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1524305" y="3888943"/>
            <a:ext cx="38405" cy="2474366"/>
          </a:xfrm>
          <a:prstGeom prst="rect">
            <a:avLst/>
          </a:prstGeom>
          <a:solidFill>
            <a:srgbClr val="C9A84C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5330038" y="4088282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04</a:t>
            </a:r>
            <a:endParaRPr lang="en-US" sz="3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1762049" y="4126687"/>
            <a:ext cx="533095" cy="533095"/>
          </a:xfrm>
          <a:prstGeom prst="ellipse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t="-45" b="-45"/>
          <a:stretch/>
        </p:blipFill>
        <p:spPr>
          <a:xfrm>
            <a:off x="1900123" y="4279392"/>
            <a:ext cx="256946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762049" y="4812487"/>
            <a:ext cx="4172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관광 수요 데이터 반영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" name="Text 27"/>
          <p:cNvSpPr txBox="1"/>
          <p:nvPr/>
        </p:nvSpPr>
        <p:spPr>
          <a:xfrm>
            <a:off x="1762049" y="5193792"/>
            <a:ext cx="40581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단순 예약 데이터뿐만 아니라 지역 행사, 날씨, 관광 트렌드 데이터를 결합한 입체적 가격 전략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6" name="Shape 28"/>
          <p:cNvSpPr/>
          <p:nvPr/>
        </p:nvSpPr>
        <p:spPr>
          <a:xfrm>
            <a:off x="6210605" y="3888943"/>
            <a:ext cx="4457700" cy="2495398"/>
          </a:xfrm>
          <a:prstGeom prst="roundRect">
            <a:avLst>
              <a:gd name="adj" fmla="val 3357"/>
            </a:avLst>
          </a:prstGeom>
          <a:solidFill>
            <a:srgbClr val="233457">
              <a:alpha val="7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6210605" y="3888943"/>
            <a:ext cx="38405" cy="2474366"/>
          </a:xfrm>
          <a:prstGeom prst="rect">
            <a:avLst/>
          </a:prstGeom>
          <a:solidFill>
            <a:srgbClr val="C9A84C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10015423" y="4088282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3000"/>
                  </a:srgb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05</a:t>
            </a:r>
            <a:endParaRPr lang="en-US" sz="3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9" name="Shape 31"/>
          <p:cNvSpPr/>
          <p:nvPr/>
        </p:nvSpPr>
        <p:spPr>
          <a:xfrm>
            <a:off x="6448349" y="4126687"/>
            <a:ext cx="533095" cy="533095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601054" y="4279392"/>
            <a:ext cx="228600" cy="22860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6448349" y="4812487"/>
            <a:ext cx="4172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실행 전략 자동 도출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2" name="Text 33"/>
          <p:cNvSpPr txBox="1"/>
          <p:nvPr/>
        </p:nvSpPr>
        <p:spPr>
          <a:xfrm>
            <a:off x="6448349" y="5193792"/>
            <a:ext cx="41724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분석을 넘어 실행 가능한 구체적 액션 플랜 제공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3" name="Shape 34"/>
          <p:cNvSpPr/>
          <p:nvPr/>
        </p:nvSpPr>
        <p:spPr>
          <a:xfrm>
            <a:off x="6448349" y="5524805"/>
            <a:ext cx="629107" cy="256946"/>
          </a:xfrm>
          <a:prstGeom prst="roundRect">
            <a:avLst>
              <a:gd name="adj" fmla="val 355872"/>
            </a:avLst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6420002" y="5524805"/>
            <a:ext cx="68580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가격 조정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5" name="Shape 36"/>
          <p:cNvSpPr/>
          <p:nvPr/>
        </p:nvSpPr>
        <p:spPr>
          <a:xfrm>
            <a:off x="7130491" y="5524805"/>
            <a:ext cx="629107" cy="256946"/>
          </a:xfrm>
          <a:prstGeom prst="roundRect">
            <a:avLst>
              <a:gd name="adj" fmla="val 355872"/>
            </a:avLst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7101230" y="5524805"/>
            <a:ext cx="685800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채널 믹스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7" name="Shape 38"/>
          <p:cNvSpPr/>
          <p:nvPr/>
        </p:nvSpPr>
        <p:spPr>
          <a:xfrm>
            <a:off x="7811719" y="5524805"/>
            <a:ext cx="1009498" cy="256946"/>
          </a:xfrm>
          <a:prstGeom prst="roundRect">
            <a:avLst>
              <a:gd name="adj" fmla="val 355872"/>
            </a:avLst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7783373" y="5524805"/>
            <a:ext cx="1067105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재고 Open/Close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9" name="Shape 40"/>
          <p:cNvSpPr/>
          <p:nvPr/>
        </p:nvSpPr>
        <p:spPr>
          <a:xfrm>
            <a:off x="8873338" y="5524805"/>
            <a:ext cx="599846" cy="256946"/>
          </a:xfrm>
          <a:prstGeom prst="roundRect">
            <a:avLst>
              <a:gd name="adj" fmla="val 355872"/>
            </a:avLst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8844991" y="5524805"/>
            <a:ext cx="657454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프로모션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1" name="Shape 42"/>
          <p:cNvSpPr/>
          <p:nvPr/>
        </p:nvSpPr>
        <p:spPr>
          <a:xfrm>
            <a:off x="6448349" y="5833872"/>
            <a:ext cx="961949" cy="256946"/>
          </a:xfrm>
          <a:prstGeom prst="roundRect">
            <a:avLst>
              <a:gd name="adj" fmla="val 355872"/>
            </a:avLst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6420002" y="5833872"/>
            <a:ext cx="1019556" cy="2578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LOS(최소숙박일)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3" name="Shape 44"/>
          <p:cNvSpPr/>
          <p:nvPr/>
        </p:nvSpPr>
        <p:spPr>
          <a:xfrm>
            <a:off x="609905" y="6391656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609905" y="6515100"/>
            <a:ext cx="22329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4B5563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NOVASTAY Proprietary Technology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5" name="Text 46"/>
          <p:cNvSpPr txBox="1"/>
          <p:nvPr/>
        </p:nvSpPr>
        <p:spPr>
          <a:xfrm>
            <a:off x="9468612" y="6515100"/>
            <a:ext cx="25164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Powered by AI &amp; Reinforcement Learning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3286354"/>
            <a:ext cx="10972800" cy="3543300"/>
          </a:xfrm>
          <a:prstGeom prst="roundRect">
            <a:avLst>
              <a:gd name="adj" fmla="val 2775"/>
            </a:avLst>
          </a:prstGeom>
          <a:solidFill>
            <a:srgbClr val="1A2A4A">
              <a:alpha val="50000"/>
            </a:srgbClr>
          </a:solidFill>
          <a:ln w="254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04999" y="2890384"/>
            <a:ext cx="3721502" cy="262468"/>
          </a:xfrm>
          <a:prstGeom prst="roundRect">
            <a:avLst>
              <a:gd name="adj" fmla="val 85197"/>
            </a:avLst>
          </a:prstGeom>
          <a:noFill/>
          <a:ln w="12700">
            <a:solidFill>
              <a:srgbClr val="E5E7EB">
                <a:alpha val="30000"/>
              </a:srgbClr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756781" y="2965599"/>
            <a:ext cx="190195" cy="152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23786" y="2898848"/>
            <a:ext cx="210586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Infrastructure (AWS)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2940600" y="2898850"/>
            <a:ext cx="14859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자동 확장 · 백업 · 장애 복구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9194292" y="7000646"/>
            <a:ext cx="114300" cy="114300"/>
          </a:xfrm>
          <a:prstGeom prst="ellips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385402" y="6616499"/>
            <a:ext cx="114025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System Component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10933938" y="6623678"/>
            <a:ext cx="63550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Data Flow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4572000" y="1343254"/>
            <a:ext cx="3047695" cy="1561795"/>
          </a:xfrm>
          <a:prstGeom prst="roundRect">
            <a:avLst>
              <a:gd name="adj" fmla="val 5712"/>
            </a:avLst>
          </a:prstGeom>
          <a:solidFill>
            <a:srgbClr val="152238"/>
          </a:solidFill>
          <a:ln w="12700">
            <a:solidFill>
              <a:srgbClr val="C9A84C">
                <a:alpha val="4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867705" y="1505102"/>
            <a:ext cx="457200" cy="457200"/>
          </a:xfrm>
          <a:prstGeom prst="ellipse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rcRect l="-1282" r="-1282"/>
          <a:stretch/>
        </p:blipFill>
        <p:spPr>
          <a:xfrm>
            <a:off x="5986577" y="1638605"/>
            <a:ext cx="219456" cy="19019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517490" y="2057400"/>
            <a:ext cx="15389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웹 / 관리자 화면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5385816" y="2400300"/>
            <a:ext cx="14218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요금 캘린더 · 추천 조회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5484571" y="2590495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승인/반려 프로세스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5456225" y="1153428"/>
            <a:ext cx="1286561" cy="171907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  <p:txBody>
          <a:bodyPr wrap="square" lIns="114300" tIns="0" rIns="11430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bg1">
                    <a:lumMod val="7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USER INTERFACE</a:t>
            </a:r>
            <a:endParaRPr lang="en-US" sz="900" dirty="0">
              <a:solidFill>
                <a:schemeClr val="bg1">
                  <a:lumMod val="7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637270" y="3804784"/>
            <a:ext cx="3238805" cy="1524305"/>
          </a:xfrm>
          <a:prstGeom prst="roundRect">
            <a:avLst>
              <a:gd name="adj" fmla="val 5999"/>
            </a:avLst>
          </a:prstGeom>
          <a:solidFill>
            <a:srgbClr val="152238"/>
          </a:solidFill>
          <a:ln w="12700">
            <a:solidFill>
              <a:srgbClr val="C9A84C">
                <a:alpha val="4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2028073" y="3966633"/>
            <a:ext cx="457200" cy="390449"/>
          </a:xfrm>
          <a:prstGeom prst="roundRect">
            <a:avLst>
              <a:gd name="adj" fmla="val 234192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136886" y="4066303"/>
            <a:ext cx="237744" cy="19019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759239" y="4452179"/>
            <a:ext cx="12070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데이터 커넥터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1777527" y="4795079"/>
            <a:ext cx="102494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PMS / 채널 매니저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API 연동 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709119" y="5282432"/>
            <a:ext cx="100626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External PMS</a:t>
            </a:r>
            <a:endParaRPr 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4476902" y="3610051"/>
            <a:ext cx="3238805" cy="1218895"/>
          </a:xfrm>
          <a:prstGeom prst="roundRect">
            <a:avLst>
              <a:gd name="adj" fmla="val 9377"/>
            </a:avLst>
          </a:prstGeom>
          <a:solidFill>
            <a:srgbClr val="152238"/>
          </a:solidFill>
          <a:ln w="12700">
            <a:solidFill>
              <a:srgbClr val="C9A84C">
                <a:alpha val="4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867705" y="3771900"/>
            <a:ext cx="457200" cy="190195"/>
          </a:xfrm>
          <a:prstGeom prst="roundRect">
            <a:avLst>
              <a:gd name="adj" fmla="val 480770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001207" y="3771900"/>
            <a:ext cx="190195" cy="19019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773522" y="4058107"/>
            <a:ext cx="77083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API 서버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0" name="Text 22"/>
          <p:cNvSpPr txBox="1"/>
          <p:nvPr/>
        </p:nvSpPr>
        <p:spPr>
          <a:xfrm>
            <a:off x="5545835" y="4362602"/>
            <a:ext cx="116311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호텔·요금 설정관리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데이터 처리 및 라우팅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1" name="Shape 23"/>
          <p:cNvSpPr/>
          <p:nvPr/>
        </p:nvSpPr>
        <p:spPr>
          <a:xfrm>
            <a:off x="4476902" y="5286146"/>
            <a:ext cx="3238805" cy="1218895"/>
          </a:xfrm>
          <a:prstGeom prst="roundRect">
            <a:avLst>
              <a:gd name="adj" fmla="val 9377"/>
            </a:avLst>
          </a:prstGeom>
          <a:solidFill>
            <a:srgbClr val="152238"/>
          </a:solidFill>
          <a:ln w="12700">
            <a:solidFill>
              <a:srgbClr val="C9A84C">
                <a:alpha val="4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5867705" y="5447995"/>
            <a:ext cx="457200" cy="190195"/>
          </a:xfrm>
          <a:prstGeom prst="roundRect">
            <a:avLst>
              <a:gd name="adj" fmla="val 480770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001207" y="5447995"/>
            <a:ext cx="190195" cy="1901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831129" y="5734202"/>
            <a:ext cx="6355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AI 엔진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" name="Text 26"/>
          <p:cNvSpPr txBox="1"/>
          <p:nvPr/>
        </p:nvSpPr>
        <p:spPr>
          <a:xfrm>
            <a:off x="5493715" y="6038698"/>
            <a:ext cx="131399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수요 예측 · 매출 분석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타깃 가격 추천 알고리즘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6" name="Shape 27"/>
          <p:cNvSpPr/>
          <p:nvPr/>
        </p:nvSpPr>
        <p:spPr>
          <a:xfrm>
            <a:off x="8333472" y="3770914"/>
            <a:ext cx="3238805" cy="1524305"/>
          </a:xfrm>
          <a:prstGeom prst="roundRect">
            <a:avLst>
              <a:gd name="adj" fmla="val 5999"/>
            </a:avLst>
          </a:prstGeom>
          <a:solidFill>
            <a:srgbClr val="152238"/>
          </a:solidFill>
          <a:ln w="12700">
            <a:solidFill>
              <a:srgbClr val="C9A84C">
                <a:alpha val="4000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28"/>
          <p:cNvSpPr/>
          <p:nvPr/>
        </p:nvSpPr>
        <p:spPr>
          <a:xfrm>
            <a:off x="9724275" y="3983565"/>
            <a:ext cx="457200" cy="390449"/>
          </a:xfrm>
          <a:prstGeom prst="roundRect">
            <a:avLst>
              <a:gd name="adj" fmla="val 234192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9"/>
          <a:srcRect l="-1648" r="-1648"/>
          <a:stretch/>
        </p:blipFill>
        <p:spPr>
          <a:xfrm>
            <a:off x="9866921" y="4083235"/>
            <a:ext cx="171907" cy="190195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9464585" y="4469111"/>
            <a:ext cx="110276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DB &amp; Cache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0" name="Text 30"/>
          <p:cNvSpPr txBox="1"/>
          <p:nvPr/>
        </p:nvSpPr>
        <p:spPr>
          <a:xfrm>
            <a:off x="9211194" y="4812011"/>
            <a:ext cx="150760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예약 · 요금 · 취소 데이터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고속 캐싱 처리 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1" name="Text 31"/>
          <p:cNvSpPr txBox="1"/>
          <p:nvPr/>
        </p:nvSpPr>
        <p:spPr>
          <a:xfrm>
            <a:off x="609905" y="381305"/>
            <a:ext cx="4924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Technical Architecture</a:t>
            </a:r>
            <a:endParaRPr lang="en-US" sz="1000" dirty="0">
              <a:solidFill>
                <a:schemeClr val="tx1">
                  <a:lumMod val="95000"/>
                  <a:lumOff val="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2" name="Text 32"/>
          <p:cNvSpPr txBox="1"/>
          <p:nvPr/>
        </p:nvSpPr>
        <p:spPr>
          <a:xfrm>
            <a:off x="609905" y="647395"/>
            <a:ext cx="680496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시스템 아키텍처 </a:t>
            </a:r>
            <a:r>
              <a:rPr lang="en-US" sz="1800" b="1" kern="0" spc="-67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System Flow Diagram</a:t>
            </a:r>
            <a:endParaRPr lang="en-US" sz="27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3" name="Text 33"/>
          <p:cNvSpPr txBox="1"/>
          <p:nvPr/>
        </p:nvSpPr>
        <p:spPr>
          <a:xfrm>
            <a:off x="8438998" y="694944"/>
            <a:ext cx="31510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안정성과 확장성을 고려한 클라우드 기반 시스템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0">
            <a:alphaModFix amt="70000"/>
          </a:blip>
          <a:srcRect t="-400" b="-400"/>
          <a:stretch/>
        </p:blipFill>
        <p:spPr>
          <a:xfrm>
            <a:off x="10668305" y="1000354"/>
            <a:ext cx="914400" cy="38405"/>
          </a:xfrm>
          <a:prstGeom prst="rect">
            <a:avLst/>
          </a:prstGeom>
        </p:spPr>
      </p:pic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5B36EB8-A5DB-B295-3F6B-B12025534703}"/>
              </a:ext>
            </a:extLst>
          </p:cNvPr>
          <p:cNvCxnSpPr>
            <a:stCxn id="13" idx="2"/>
            <a:endCxn id="26" idx="0"/>
          </p:cNvCxnSpPr>
          <p:nvPr/>
        </p:nvCxnSpPr>
        <p:spPr>
          <a:xfrm>
            <a:off x="6095848" y="2905049"/>
            <a:ext cx="457" cy="705002"/>
          </a:xfrm>
          <a:prstGeom prst="straightConnector1">
            <a:avLst/>
          </a:prstGeom>
          <a:ln w="34925">
            <a:solidFill>
              <a:schemeClr val="bg2">
                <a:lumMod val="2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823A0AF5-7BBB-B9A0-DC1A-EE91807BE594}"/>
              </a:ext>
            </a:extLst>
          </p:cNvPr>
          <p:cNvCxnSpPr>
            <a:stCxn id="26" idx="2"/>
            <a:endCxn id="31" idx="0"/>
          </p:cNvCxnSpPr>
          <p:nvPr/>
        </p:nvCxnSpPr>
        <p:spPr>
          <a:xfrm>
            <a:off x="6096305" y="4828946"/>
            <a:ext cx="0" cy="457200"/>
          </a:xfrm>
          <a:prstGeom prst="straightConnector1">
            <a:avLst/>
          </a:prstGeom>
          <a:ln w="285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D046CFE-7B91-2D3B-3D36-1788217FC1C4}"/>
              </a:ext>
            </a:extLst>
          </p:cNvPr>
          <p:cNvCxnSpPr>
            <a:cxnSpLocks/>
          </p:cNvCxnSpPr>
          <p:nvPr/>
        </p:nvCxnSpPr>
        <p:spPr>
          <a:xfrm flipH="1">
            <a:off x="7715707" y="4883793"/>
            <a:ext cx="578001" cy="402353"/>
          </a:xfrm>
          <a:prstGeom prst="straightConnector1">
            <a:avLst/>
          </a:prstGeom>
          <a:ln w="285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A82BF22-ACF3-328D-DB3A-72DB3D2100DD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3876075" y="4219498"/>
            <a:ext cx="600827" cy="1"/>
          </a:xfrm>
          <a:prstGeom prst="straightConnector1">
            <a:avLst/>
          </a:prstGeom>
          <a:ln w="285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6BF26450-5403-554F-1229-06F8A941CF58}"/>
              </a:ext>
            </a:extLst>
          </p:cNvPr>
          <p:cNvCxnSpPr>
            <a:cxnSpLocks/>
          </p:cNvCxnSpPr>
          <p:nvPr/>
        </p:nvCxnSpPr>
        <p:spPr>
          <a:xfrm flipV="1">
            <a:off x="7715283" y="4191609"/>
            <a:ext cx="618189" cy="2270"/>
          </a:xfrm>
          <a:prstGeom prst="straightConnector1">
            <a:avLst/>
          </a:prstGeom>
          <a:ln w="28575">
            <a:solidFill>
              <a:schemeClr val="bg2">
                <a:lumMod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9905" y="381305"/>
            <a:ext cx="34107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Business Model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09905" y="647395"/>
            <a:ext cx="468812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수익 구조 및 가격 정책</a:t>
            </a:r>
            <a:endParaRPr lang="en-US" sz="27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613648" y="685800"/>
            <a:ext cx="2975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합리적인 도입 비용과 성과 기반의 성장 모델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rcRect t="-400" b="-400"/>
          <a:stretch/>
        </p:blipFill>
        <p:spPr>
          <a:xfrm>
            <a:off x="10668305" y="846356"/>
            <a:ext cx="914400" cy="384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9905" y="1189256"/>
            <a:ext cx="3504895" cy="4143146"/>
          </a:xfrm>
          <a:prstGeom prst="roundRect">
            <a:avLst>
              <a:gd name="adj" fmla="val 1701"/>
            </a:avLst>
          </a:prstGeom>
          <a:solidFill>
            <a:srgbClr val="152238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19049" y="2742822"/>
            <a:ext cx="3486607" cy="9144"/>
          </a:xfrm>
          <a:prstGeom prst="roundRect">
            <a:avLst>
              <a:gd name="adj" fmla="val 147239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124151" y="1427915"/>
            <a:ext cx="476402" cy="476402"/>
          </a:xfrm>
          <a:prstGeom prst="ellipse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266798" y="1570561"/>
            <a:ext cx="190195" cy="19019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2551" y="2056107"/>
            <a:ext cx="3219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초기 세팅비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790956" y="2361517"/>
            <a:ext cx="3143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Initial Setup Fee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1399946" y="3166189"/>
            <a:ext cx="19275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₩ 3,000,000</a:t>
            </a:r>
            <a:endParaRPr lang="en-US" sz="2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1753819" y="3584984"/>
            <a:ext cx="12243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1회 납부 (One-time)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1000354" y="4003779"/>
            <a:ext cx="105156" cy="1143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47495" y="3966289"/>
            <a:ext cx="162031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호텔 데이터 정비 및 표준화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1000354" y="4318333"/>
            <a:ext cx="105156" cy="1143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47495" y="4280843"/>
            <a:ext cx="239115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PMS/Channel Manager 연동 코드 작업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1000354" y="4632887"/>
            <a:ext cx="105156" cy="11430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447495" y="4594482"/>
            <a:ext cx="162031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초기 시스템 최적화 및 교육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2" name="Shape 14"/>
          <p:cNvSpPr/>
          <p:nvPr/>
        </p:nvSpPr>
        <p:spPr>
          <a:xfrm>
            <a:off x="8077810" y="1189256"/>
            <a:ext cx="3504895" cy="4143146"/>
          </a:xfrm>
          <a:prstGeom prst="roundRect">
            <a:avLst>
              <a:gd name="adj" fmla="val 1701"/>
            </a:avLst>
          </a:prstGeom>
          <a:solidFill>
            <a:srgbClr val="152238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8086954" y="2742822"/>
            <a:ext cx="3486607" cy="9144"/>
          </a:xfrm>
          <a:prstGeom prst="roundRect">
            <a:avLst>
              <a:gd name="adj" fmla="val 1472393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9592056" y="1427915"/>
            <a:ext cx="476402" cy="476402"/>
          </a:xfrm>
          <a:prstGeom prst="ellipse">
            <a:avLst/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734702" y="1570561"/>
            <a:ext cx="190195" cy="190195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8220456" y="2056107"/>
            <a:ext cx="3219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인센티브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7" name="Text 18"/>
          <p:cNvSpPr txBox="1"/>
          <p:nvPr/>
        </p:nvSpPr>
        <p:spPr>
          <a:xfrm>
            <a:off x="8258861" y="2361517"/>
            <a:ext cx="3143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Performance Based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8" name="Text 19"/>
          <p:cNvSpPr txBox="1"/>
          <p:nvPr/>
        </p:nvSpPr>
        <p:spPr>
          <a:xfrm>
            <a:off x="9484157" y="3008912"/>
            <a:ext cx="6958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20%</a:t>
            </a:r>
            <a:endParaRPr lang="en-US" sz="2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9" name="Text 20"/>
          <p:cNvSpPr txBox="1"/>
          <p:nvPr/>
        </p:nvSpPr>
        <p:spPr>
          <a:xfrm>
            <a:off x="8707831" y="3427707"/>
            <a:ext cx="224485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전년 대비 매출 증가분 (Growth Share)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8468258" y="3847417"/>
            <a:ext cx="105156" cy="11430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915399" y="3809012"/>
            <a:ext cx="139109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성과 연동형 수익 모델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8468258" y="4161056"/>
            <a:ext cx="105156" cy="11430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915400" y="4123566"/>
            <a:ext cx="242224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리스크 최소화 (매출 증가 시에만 발생)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6"/>
          <a:srcRect l="-2571" r="-2571"/>
          <a:stretch/>
        </p:blipFill>
        <p:spPr>
          <a:xfrm>
            <a:off x="8468258" y="4475610"/>
            <a:ext cx="105156" cy="11430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8915400" y="4437205"/>
            <a:ext cx="162031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파트너십 강화 및 동반 성장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6" name="Shape 24"/>
          <p:cNvSpPr/>
          <p:nvPr/>
        </p:nvSpPr>
        <p:spPr>
          <a:xfrm>
            <a:off x="8468258" y="4751759"/>
            <a:ext cx="27239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37" name="Text 25"/>
          <p:cNvSpPr txBox="1"/>
          <p:nvPr/>
        </p:nvSpPr>
        <p:spPr>
          <a:xfrm>
            <a:off x="8468258" y="4837712"/>
            <a:ext cx="2833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* 부가세(VAT) 별도</a:t>
            </a:r>
            <a:endParaRPr 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8" name="Shape 26"/>
          <p:cNvSpPr/>
          <p:nvPr/>
        </p:nvSpPr>
        <p:spPr>
          <a:xfrm>
            <a:off x="0" y="5554566"/>
            <a:ext cx="12191695" cy="1268273"/>
          </a:xfrm>
          <a:prstGeom prst="rect">
            <a:avLst/>
          </a:prstGeom>
          <a:solidFill>
            <a:srgbClr val="152238">
              <a:alpha val="50000"/>
            </a:srgbClr>
          </a:solidFill>
          <a:ln/>
        </p:spPr>
      </p:sp>
      <p:sp>
        <p:nvSpPr>
          <p:cNvPr id="39" name="Shape 27"/>
          <p:cNvSpPr/>
          <p:nvPr/>
        </p:nvSpPr>
        <p:spPr>
          <a:xfrm>
            <a:off x="0" y="5299449"/>
            <a:ext cx="1219169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571500" y="5738739"/>
            <a:ext cx="171907" cy="152705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819302" y="5681132"/>
            <a:ext cx="216529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NOVASTAY 차별화 포인트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2" name="Shape 29"/>
          <p:cNvSpPr/>
          <p:nvPr/>
        </p:nvSpPr>
        <p:spPr>
          <a:xfrm>
            <a:off x="571500" y="5955988"/>
            <a:ext cx="5410505" cy="875995"/>
          </a:xfrm>
          <a:prstGeom prst="roundRect">
            <a:avLst>
              <a:gd name="adj" fmla="val 18154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43" name="Shape 30"/>
          <p:cNvSpPr/>
          <p:nvPr/>
        </p:nvSpPr>
        <p:spPr>
          <a:xfrm>
            <a:off x="571500" y="5964456"/>
            <a:ext cx="28346" cy="875995"/>
          </a:xfrm>
          <a:prstGeom prst="roundRect">
            <a:avLst>
              <a:gd name="adj" fmla="val 561018"/>
            </a:avLst>
          </a:prstGeom>
          <a:solidFill>
            <a:srgbClr val="C9A84C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pic>
        <p:nvPicPr>
          <p:cNvPr id="44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8446" y="6281280"/>
            <a:ext cx="228600" cy="228600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1209751" y="6100229"/>
            <a:ext cx="2991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Beyond Pricing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6" name="Text 32"/>
          <p:cNvSpPr txBox="1"/>
          <p:nvPr/>
        </p:nvSpPr>
        <p:spPr>
          <a:xfrm>
            <a:off x="1209751" y="6290424"/>
            <a:ext cx="3519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단순 가격 추천을 넘어 실행 가능한 전략 패키지 제공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7" name="Text 33"/>
          <p:cNvSpPr txBox="1"/>
          <p:nvPr/>
        </p:nvSpPr>
        <p:spPr>
          <a:xfrm>
            <a:off x="1209751" y="6519024"/>
            <a:ext cx="3067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채널 믹스, 프로모션, 재고 관리 등 종합 솔루션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8" name="Shape 34"/>
          <p:cNvSpPr/>
          <p:nvPr/>
        </p:nvSpPr>
        <p:spPr>
          <a:xfrm>
            <a:off x="6210605" y="5972926"/>
            <a:ext cx="5410505" cy="875995"/>
          </a:xfrm>
          <a:prstGeom prst="roundRect">
            <a:avLst>
              <a:gd name="adj" fmla="val 18154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49" name="Shape 35"/>
          <p:cNvSpPr/>
          <p:nvPr/>
        </p:nvSpPr>
        <p:spPr>
          <a:xfrm>
            <a:off x="6210605" y="5972931"/>
            <a:ext cx="28346" cy="875995"/>
          </a:xfrm>
          <a:prstGeom prst="roundRect">
            <a:avLst>
              <a:gd name="adj" fmla="val 561018"/>
            </a:avLst>
          </a:prstGeom>
          <a:solidFill>
            <a:srgbClr val="C9A84C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6467551" y="6298215"/>
            <a:ext cx="286207" cy="228600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6905549" y="6117164"/>
            <a:ext cx="22786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Standardization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2" name="Text 37"/>
          <p:cNvSpPr txBox="1"/>
          <p:nvPr/>
        </p:nvSpPr>
        <p:spPr>
          <a:xfrm>
            <a:off x="6905549" y="6307359"/>
            <a:ext cx="27038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담당자 경험 의존 탈피, 의사결정 표준화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3" name="Text 38"/>
          <p:cNvSpPr txBox="1"/>
          <p:nvPr/>
        </p:nvSpPr>
        <p:spPr>
          <a:xfrm>
            <a:off x="6905549" y="6535959"/>
            <a:ext cx="26307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인력 교체 리스크 최소화 및 운영 효율 극대화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5" name="Image 13" descr="preencoded.png"/>
          <p:cNvPicPr>
            <a:picLocks noChangeAspect="1"/>
          </p:cNvPicPr>
          <p:nvPr/>
        </p:nvPicPr>
        <p:blipFill>
          <a:blip r:embed="rId11"/>
          <a:srcRect l="-2" r="-2"/>
          <a:stretch/>
        </p:blipFill>
        <p:spPr>
          <a:xfrm>
            <a:off x="4255618" y="1085929"/>
            <a:ext cx="3681374" cy="4350715"/>
          </a:xfrm>
          <a:prstGeom prst="rect">
            <a:avLst/>
          </a:prstGeom>
        </p:spPr>
      </p:pic>
      <p:sp>
        <p:nvSpPr>
          <p:cNvPr id="56" name="Shape 40"/>
          <p:cNvSpPr/>
          <p:nvPr/>
        </p:nvSpPr>
        <p:spPr>
          <a:xfrm>
            <a:off x="4275734" y="2735507"/>
            <a:ext cx="3648456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41"/>
          <p:cNvSpPr/>
          <p:nvPr/>
        </p:nvSpPr>
        <p:spPr>
          <a:xfrm>
            <a:off x="5845759" y="1345619"/>
            <a:ext cx="504749" cy="504749"/>
          </a:xfrm>
          <a:prstGeom prst="ellipse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2"/>
          <a:srcRect l="-185" r="-185"/>
          <a:stretch/>
        </p:blipFill>
        <p:spPr>
          <a:xfrm>
            <a:off x="5975604" y="1491008"/>
            <a:ext cx="247802" cy="219456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4420210" y="2005815"/>
            <a:ext cx="33531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기본형 (월 구독)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0" name="Text 43"/>
          <p:cNvSpPr txBox="1"/>
          <p:nvPr/>
        </p:nvSpPr>
        <p:spPr>
          <a:xfrm>
            <a:off x="4458614" y="2325855"/>
            <a:ext cx="3277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Monthly Subscription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1" name="Text 44"/>
          <p:cNvSpPr txBox="1"/>
          <p:nvPr/>
        </p:nvSpPr>
        <p:spPr>
          <a:xfrm>
            <a:off x="5071262" y="2975994"/>
            <a:ext cx="205008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₩ 500,000</a:t>
            </a:r>
            <a:endParaRPr lang="en-US" sz="27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2" name="Text 45"/>
          <p:cNvSpPr txBox="1"/>
          <p:nvPr/>
        </p:nvSpPr>
        <p:spPr>
          <a:xfrm>
            <a:off x="5319979" y="3456054"/>
            <a:ext cx="156179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월 단위 결제 (Per Month)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3" name="Image 15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4675327" y="3895880"/>
            <a:ext cx="114300" cy="133502"/>
          </a:xfrm>
          <a:prstGeom prst="rect">
            <a:avLst/>
          </a:prstGeom>
        </p:spPr>
      </p:pic>
      <p:sp>
        <p:nvSpPr>
          <p:cNvPr id="64" name="Text 46"/>
          <p:cNvSpPr txBox="1"/>
          <p:nvPr/>
        </p:nvSpPr>
        <p:spPr>
          <a:xfrm>
            <a:off x="5134356" y="3856561"/>
            <a:ext cx="23079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핵심 지표 분석 (OCC, ADR, RevPAR)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5" name="Image 16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4675327" y="4225979"/>
            <a:ext cx="114300" cy="133502"/>
          </a:xfrm>
          <a:prstGeom prst="rect">
            <a:avLst/>
          </a:prstGeom>
        </p:spPr>
      </p:pic>
      <p:sp>
        <p:nvSpPr>
          <p:cNvPr id="66" name="Text 47"/>
          <p:cNvSpPr txBox="1"/>
          <p:nvPr/>
        </p:nvSpPr>
        <p:spPr>
          <a:xfrm>
            <a:off x="5134356" y="4186659"/>
            <a:ext cx="17437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Pick-up 리포트 및 예약 현황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7" name="Image 17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4675327" y="4556077"/>
            <a:ext cx="114300" cy="133502"/>
          </a:xfrm>
          <a:prstGeom prst="rect">
            <a:avLst/>
          </a:prstGeom>
        </p:spPr>
      </p:pic>
      <p:sp>
        <p:nvSpPr>
          <p:cNvPr id="68" name="Text 48"/>
          <p:cNvSpPr txBox="1"/>
          <p:nvPr/>
        </p:nvSpPr>
        <p:spPr>
          <a:xfrm>
            <a:off x="5134356" y="4516758"/>
            <a:ext cx="19604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Revenue Forecast</a:t>
            </a: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(매출 예측)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9" name="Image 18" descr="preencoded.png"/>
          <p:cNvPicPr>
            <a:picLocks noChangeAspect="1"/>
          </p:cNvPicPr>
          <p:nvPr/>
        </p:nvPicPr>
        <p:blipFill>
          <a:blip r:embed="rId13"/>
          <a:srcRect t="-1100" b="-1100"/>
          <a:stretch/>
        </p:blipFill>
        <p:spPr>
          <a:xfrm>
            <a:off x="4675327" y="4886175"/>
            <a:ext cx="114300" cy="133502"/>
          </a:xfrm>
          <a:prstGeom prst="rect">
            <a:avLst/>
          </a:prstGeom>
        </p:spPr>
      </p:pic>
      <p:sp>
        <p:nvSpPr>
          <p:cNvPr id="70" name="Text 49"/>
          <p:cNvSpPr txBox="1"/>
          <p:nvPr/>
        </p:nvSpPr>
        <p:spPr>
          <a:xfrm>
            <a:off x="5134356" y="4846856"/>
            <a:ext cx="1913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AI 객실 요금 추천 (Unlimited)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1" name="Shape 50"/>
          <p:cNvSpPr/>
          <p:nvPr/>
        </p:nvSpPr>
        <p:spPr>
          <a:xfrm>
            <a:off x="5522976" y="1106046"/>
            <a:ext cx="1152144" cy="237744"/>
          </a:xfrm>
          <a:prstGeom prst="roundRect">
            <a:avLst>
              <a:gd name="adj" fmla="val 246154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51"/>
          <p:cNvSpPr txBox="1"/>
          <p:nvPr/>
        </p:nvSpPr>
        <p:spPr>
          <a:xfrm>
            <a:off x="5522976" y="1106046"/>
            <a:ext cx="12097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1A2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Most Popular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-6401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1105510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218895" y="381305"/>
            <a:ext cx="3314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Competitor Analysis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1218895" y="647395"/>
            <a:ext cx="448421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경쟁사 분석 및 차별화</a:t>
            </a:r>
            <a:endParaRPr lang="en-US" sz="27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450885" y="838505"/>
            <a:ext cx="252831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Global High-End RMS vs NOVASTAY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-1828" y="1195460"/>
            <a:ext cx="3390595" cy="5619902"/>
          </a:xfrm>
          <a:prstGeom prst="rect">
            <a:avLst/>
          </a:prstGeom>
          <a:solidFill>
            <a:srgbClr val="152238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3381451" y="1266444"/>
            <a:ext cx="9144" cy="6696151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1305" y="1647749"/>
            <a:ext cx="38405" cy="267005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4010" y="1647749"/>
            <a:ext cx="2572207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Global RMS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381305" y="1990649"/>
            <a:ext cx="2809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주요 글로벌 경쟁사 현황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33095" y="2972714"/>
            <a:ext cx="23143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3095" y="2486254"/>
            <a:ext cx="7150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DA4C7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IDeaS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13025" y="2590495"/>
            <a:ext cx="133502" cy="13350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33095" y="3610966"/>
            <a:ext cx="23143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33095" y="3124505"/>
            <a:ext cx="8193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DA4C7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Duetto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13025" y="3228746"/>
            <a:ext cx="133502" cy="13350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1567" y="4249217"/>
            <a:ext cx="23143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33095" y="3762756"/>
            <a:ext cx="9811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DA4C7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Atomize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13025" y="3866998"/>
            <a:ext cx="133502" cy="1335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3100" y="4322870"/>
            <a:ext cx="1049489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DA4C7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BEONx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21497" y="4505249"/>
            <a:ext cx="133502" cy="13350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56742" y="4828946"/>
            <a:ext cx="2467051" cy="1918311"/>
          </a:xfrm>
          <a:prstGeom prst="roundRect">
            <a:avLst>
              <a:gd name="adj" fmla="val 2758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48992" y="4932819"/>
            <a:ext cx="22329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⚠️ 주요 한계점 (Pain Points)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648992" y="5237314"/>
            <a:ext cx="2066544" cy="352044"/>
          </a:xfrm>
          <a:prstGeom prst="roundRect">
            <a:avLst>
              <a:gd name="adj" fmla="val 8424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800782" y="5347042"/>
            <a:ext cx="152705" cy="13350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1067787" y="5237314"/>
            <a:ext cx="115305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높은 도입 비용 부담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9" name="Shape 21"/>
          <p:cNvSpPr/>
          <p:nvPr/>
        </p:nvSpPr>
        <p:spPr>
          <a:xfrm>
            <a:off x="629377" y="5684912"/>
            <a:ext cx="2066544" cy="552298"/>
          </a:xfrm>
          <a:prstGeom prst="roundRect">
            <a:avLst>
              <a:gd name="adj" fmla="val 34254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 l="-1507" r="-1507"/>
          <a:stretch/>
        </p:blipFill>
        <p:spPr>
          <a:xfrm>
            <a:off x="800782" y="5894768"/>
            <a:ext cx="171907" cy="13350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1060845" y="5733288"/>
            <a:ext cx="166065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복잡한 운영 및 세팅 난이도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2" name="Shape 23"/>
          <p:cNvSpPr/>
          <p:nvPr/>
        </p:nvSpPr>
        <p:spPr>
          <a:xfrm>
            <a:off x="648992" y="6332765"/>
            <a:ext cx="2232964" cy="352044"/>
          </a:xfrm>
          <a:prstGeom prst="roundRect">
            <a:avLst>
              <a:gd name="adj" fmla="val 8424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0782" y="6442493"/>
            <a:ext cx="133502" cy="133502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048584" y="6332765"/>
            <a:ext cx="15484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대형 체인 호텔 </a:t>
            </a:r>
            <a:r>
              <a:rPr lang="en-US" sz="1000" dirty="0" err="1">
                <a:solidFill>
                  <a:srgbClr val="A0AE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중심</a:t>
            </a:r>
            <a:r>
              <a:rPr lang="en-US" sz="1000" dirty="0">
                <a:solidFill>
                  <a:srgbClr val="A0AE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A0AE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설</a:t>
            </a:r>
            <a:r>
              <a:rPr lang="en-US" sz="1000" dirty="0">
                <a:solidFill>
                  <a:srgbClr val="A0AEC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계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3960266" y="2710282"/>
            <a:ext cx="38405" cy="3044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4151376" y="2710282"/>
            <a:ext cx="2602382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NOVASTAY 차별화 요소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3960266" y="3319272"/>
            <a:ext cx="3724351" cy="857707"/>
          </a:xfrm>
          <a:prstGeom prst="roundRect">
            <a:avLst>
              <a:gd name="adj" fmla="val 28429"/>
            </a:avLst>
          </a:prstGeom>
          <a:solidFill>
            <a:srgbClr val="233457">
              <a:alpha val="4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39" name="Shape 29"/>
          <p:cNvSpPr/>
          <p:nvPr/>
        </p:nvSpPr>
        <p:spPr>
          <a:xfrm>
            <a:off x="4160520" y="3519526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251046" y="3633826"/>
            <a:ext cx="237744" cy="19019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4732020" y="3519526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경량 SaaS 구조</a:t>
            </a:r>
            <a:endParaRPr 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2" name="Text 31"/>
          <p:cNvSpPr txBox="1"/>
          <p:nvPr/>
        </p:nvSpPr>
        <p:spPr>
          <a:xfrm>
            <a:off x="4732020" y="3786530"/>
            <a:ext cx="32223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무거운 설치 없이 즉시 사용 가능한 웹 기반 경량 플랫폼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3" name="Shape 32"/>
          <p:cNvSpPr/>
          <p:nvPr/>
        </p:nvSpPr>
        <p:spPr>
          <a:xfrm>
            <a:off x="7904988" y="3319272"/>
            <a:ext cx="3724351" cy="857707"/>
          </a:xfrm>
          <a:prstGeom prst="roundRect">
            <a:avLst>
              <a:gd name="adj" fmla="val 28429"/>
            </a:avLst>
          </a:prstGeom>
          <a:solidFill>
            <a:srgbClr val="233457">
              <a:alpha val="4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8104327" y="3519526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218627" y="3633826"/>
            <a:ext cx="190195" cy="190195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8675827" y="3519526"/>
            <a:ext cx="2658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낮은 초기비용·구독형</a:t>
            </a:r>
            <a:endParaRPr 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8675827" y="3786530"/>
            <a:ext cx="3044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초기 투자 부담을 없앤 월 구독 모델로 진입장벽 해소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8" name="Shape 36"/>
          <p:cNvSpPr/>
          <p:nvPr/>
        </p:nvSpPr>
        <p:spPr>
          <a:xfrm>
            <a:off x="3960266" y="4401007"/>
            <a:ext cx="3724351" cy="1037844"/>
          </a:xfrm>
          <a:prstGeom prst="roundRect">
            <a:avLst>
              <a:gd name="adj" fmla="val 19399"/>
            </a:avLst>
          </a:prstGeom>
          <a:solidFill>
            <a:srgbClr val="233457">
              <a:alpha val="4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9" name="Shape 37"/>
          <p:cNvSpPr/>
          <p:nvPr/>
        </p:nvSpPr>
        <p:spPr>
          <a:xfrm>
            <a:off x="4160520" y="4600346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274820" y="4714646"/>
            <a:ext cx="190195" cy="190195"/>
          </a:xfrm>
          <a:prstGeom prst="rect">
            <a:avLst/>
          </a:prstGeom>
        </p:spPr>
      </p:pic>
      <p:sp>
        <p:nvSpPr>
          <p:cNvPr id="51" name="Text 38"/>
          <p:cNvSpPr txBox="1"/>
          <p:nvPr/>
        </p:nvSpPr>
        <p:spPr>
          <a:xfrm>
            <a:off x="4732020" y="4600346"/>
            <a:ext cx="2943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실무 중심 기능</a:t>
            </a:r>
            <a:endParaRPr 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2" name="Text 39"/>
          <p:cNvSpPr txBox="1"/>
          <p:nvPr/>
        </p:nvSpPr>
        <p:spPr>
          <a:xfrm>
            <a:off x="4732020" y="4867351"/>
            <a:ext cx="282915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복잡한 이론보다 현장 담당자가 실제 필요한 기능 위주 설계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3" name="Shape 40"/>
          <p:cNvSpPr/>
          <p:nvPr/>
        </p:nvSpPr>
        <p:spPr>
          <a:xfrm>
            <a:off x="7904988" y="4401007"/>
            <a:ext cx="3724351" cy="1037844"/>
          </a:xfrm>
          <a:prstGeom prst="roundRect">
            <a:avLst>
              <a:gd name="adj" fmla="val 19399"/>
            </a:avLst>
          </a:prstGeom>
          <a:solidFill>
            <a:srgbClr val="233457">
              <a:alpha val="4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54" name="Shape 41"/>
          <p:cNvSpPr/>
          <p:nvPr/>
        </p:nvSpPr>
        <p:spPr>
          <a:xfrm>
            <a:off x="8104327" y="4600346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11"/>
          <a:srcRect l="-1282" r="-1282"/>
          <a:stretch/>
        </p:blipFill>
        <p:spPr>
          <a:xfrm>
            <a:off x="8204911" y="4714646"/>
            <a:ext cx="219456" cy="190195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8675827" y="4600346"/>
            <a:ext cx="2829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지역 관광 수요 연계</a:t>
            </a:r>
            <a:endParaRPr 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7" name="Text 43"/>
          <p:cNvSpPr txBox="1"/>
          <p:nvPr/>
        </p:nvSpPr>
        <p:spPr>
          <a:xfrm>
            <a:off x="8675827" y="4867351"/>
            <a:ext cx="3290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호텔 주변 행사, 날씨, 관광 트렌드 데이터를 가격에 반영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8" name="Shape 44"/>
          <p:cNvSpPr/>
          <p:nvPr/>
        </p:nvSpPr>
        <p:spPr>
          <a:xfrm>
            <a:off x="3960266" y="5667451"/>
            <a:ext cx="3724351" cy="857707"/>
          </a:xfrm>
          <a:prstGeom prst="roundRect">
            <a:avLst>
              <a:gd name="adj" fmla="val 28429"/>
            </a:avLst>
          </a:prstGeom>
          <a:solidFill>
            <a:srgbClr val="233457">
              <a:alpha val="4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59" name="Shape 45"/>
          <p:cNvSpPr/>
          <p:nvPr/>
        </p:nvSpPr>
        <p:spPr>
          <a:xfrm>
            <a:off x="4160520" y="5867705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4274820" y="5982005"/>
            <a:ext cx="190195" cy="190195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4732020" y="5867705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전략 자동화</a:t>
            </a:r>
            <a:endParaRPr 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2" name="Text 47"/>
          <p:cNvSpPr txBox="1"/>
          <p:nvPr/>
        </p:nvSpPr>
        <p:spPr>
          <a:xfrm>
            <a:off x="4732020" y="6133795"/>
            <a:ext cx="318119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채널별, 객실 타입별, 시즌별 최적 판매 전략 자동 생성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3" name="Shape 48"/>
          <p:cNvSpPr/>
          <p:nvPr/>
        </p:nvSpPr>
        <p:spPr>
          <a:xfrm>
            <a:off x="7904988" y="5667451"/>
            <a:ext cx="3724351" cy="857707"/>
          </a:xfrm>
          <a:prstGeom prst="roundRect">
            <a:avLst>
              <a:gd name="adj" fmla="val 28429"/>
            </a:avLst>
          </a:prstGeom>
          <a:solidFill>
            <a:srgbClr val="233457">
              <a:alpha val="4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64" name="Shape 49"/>
          <p:cNvSpPr/>
          <p:nvPr/>
        </p:nvSpPr>
        <p:spPr>
          <a:xfrm>
            <a:off x="8104327" y="5867705"/>
            <a:ext cx="418795" cy="418795"/>
          </a:xfrm>
          <a:prstGeom prst="roundRect">
            <a:avLst>
              <a:gd name="adj" fmla="val 79397"/>
            </a:avLst>
          </a:prstGeom>
          <a:solidFill>
            <a:srgbClr val="C9A84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218627" y="5982005"/>
            <a:ext cx="190195" cy="190195"/>
          </a:xfrm>
          <a:prstGeom prst="rect">
            <a:avLst/>
          </a:prstGeom>
        </p:spPr>
      </p:pic>
      <p:sp>
        <p:nvSpPr>
          <p:cNvPr id="66" name="Text 50"/>
          <p:cNvSpPr txBox="1"/>
          <p:nvPr/>
        </p:nvSpPr>
        <p:spPr>
          <a:xfrm>
            <a:off x="8675827" y="5867705"/>
            <a:ext cx="25411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실시간 인벤토리 관리</a:t>
            </a:r>
            <a:endParaRPr 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7" name="Text 51"/>
          <p:cNvSpPr txBox="1"/>
          <p:nvPr/>
        </p:nvSpPr>
        <p:spPr>
          <a:xfrm>
            <a:off x="8675827" y="6133795"/>
            <a:ext cx="28492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PMS 연동을 통해 실시간으로 재고 및 요금 동기화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9" name="Text 53"/>
          <p:cNvSpPr txBox="1"/>
          <p:nvPr/>
        </p:nvSpPr>
        <p:spPr>
          <a:xfrm>
            <a:off x="11518697" y="6476695"/>
            <a:ext cx="143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900" dirty="0"/>
          </a:p>
        </p:txBody>
      </p:sp>
      <p:pic>
        <p:nvPicPr>
          <p:cNvPr id="70" name="Image 14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3188513" y="4424782"/>
            <a:ext cx="381305" cy="381305"/>
          </a:xfrm>
          <a:prstGeom prst="rect">
            <a:avLst/>
          </a:prstGeom>
        </p:spPr>
      </p:pic>
      <p:sp>
        <p:nvSpPr>
          <p:cNvPr id="71" name="Text 54"/>
          <p:cNvSpPr/>
          <p:nvPr/>
        </p:nvSpPr>
        <p:spPr>
          <a:xfrm>
            <a:off x="3160166" y="4424782"/>
            <a:ext cx="4389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A4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0" y="3424428"/>
            <a:ext cx="12191695" cy="914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09905" y="6476695"/>
            <a:ext cx="1181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NOVASTAY Roadmap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11518697" y="6476695"/>
            <a:ext cx="1435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571500" y="2066544"/>
            <a:ext cx="3314700" cy="4000500"/>
          </a:xfrm>
          <a:prstGeom prst="roundRect">
            <a:avLst>
              <a:gd name="adj" fmla="val 2537"/>
            </a:avLst>
          </a:prstGeom>
          <a:solidFill>
            <a:srgbClr val="152238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17" b="-17"/>
          <a:stretch/>
        </p:blipFill>
        <p:spPr>
          <a:xfrm>
            <a:off x="580644" y="2076602"/>
            <a:ext cx="3295498" cy="10671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809244" y="2338121"/>
            <a:ext cx="533095" cy="533095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976579" y="2490826"/>
            <a:ext cx="200254" cy="2286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748333" y="2638044"/>
            <a:ext cx="190835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기존 및 </a:t>
            </a:r>
            <a:r>
              <a:rPr lang="en-US" sz="1500" b="1" dirty="0" err="1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틈새시장</a:t>
            </a: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 공략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 t="-3" b="-3"/>
          <a:stretch/>
        </p:blipFill>
        <p:spPr>
          <a:xfrm>
            <a:off x="809244" y="3372307"/>
            <a:ext cx="2838298" cy="8001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990295" y="3399523"/>
            <a:ext cx="26060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Target Customers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Text 7"/>
          <p:cNvSpPr txBox="1"/>
          <p:nvPr/>
        </p:nvSpPr>
        <p:spPr>
          <a:xfrm>
            <a:off x="990295" y="3785657"/>
            <a:ext cx="2695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중소·독립 호텔 / 리조트 / 부티크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990295" y="3992486"/>
            <a:ext cx="2695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전문 RM 인력 부재 사업장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Shape 9"/>
          <p:cNvSpPr/>
          <p:nvPr/>
        </p:nvSpPr>
        <p:spPr>
          <a:xfrm>
            <a:off x="809244" y="4629607"/>
            <a:ext cx="28382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7" name="Text 10"/>
          <p:cNvSpPr txBox="1"/>
          <p:nvPr/>
        </p:nvSpPr>
        <p:spPr>
          <a:xfrm>
            <a:off x="809244" y="4362602"/>
            <a:ext cx="2915107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핵심 전략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9244" y="4753051"/>
            <a:ext cx="95098" cy="95098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05256" y="4753051"/>
            <a:ext cx="284195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전문 인력 없이도 가능한 </a:t>
            </a: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자동화 관리</a:t>
            </a: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강조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9244" y="5067605"/>
            <a:ext cx="95098" cy="95098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905256" y="5067605"/>
            <a:ext cx="292516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객단가 상승 및 매출 개선 </a:t>
            </a: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즉각적 효과</a:t>
            </a: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입증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9244" y="5381244"/>
            <a:ext cx="95098" cy="95098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905256" y="5381244"/>
            <a:ext cx="284195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합리적 비용의 구독 모델로 진입 장벽 제거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2548433" y="2314346"/>
            <a:ext cx="1104595" cy="247802"/>
          </a:xfrm>
          <a:prstGeom prst="roundRect">
            <a:avLst>
              <a:gd name="adj" fmla="val 369004"/>
            </a:avLst>
          </a:prstGeom>
          <a:solidFill>
            <a:srgbClr val="64748B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5"/>
          <p:cNvSpPr/>
          <p:nvPr/>
        </p:nvSpPr>
        <p:spPr>
          <a:xfrm>
            <a:off x="2491740" y="2314346"/>
            <a:ext cx="11622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BD5E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초기 진입 (Entry)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6" name="Text 16"/>
          <p:cNvSpPr txBox="1"/>
          <p:nvPr/>
        </p:nvSpPr>
        <p:spPr>
          <a:xfrm>
            <a:off x="3202229" y="2229307"/>
            <a:ext cx="60624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1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01</a:t>
            </a:r>
            <a:endParaRPr lang="en-US" sz="36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3972154" y="3962095"/>
            <a:ext cx="142646" cy="228600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4438498" y="2066544"/>
            <a:ext cx="3314700" cy="4000500"/>
          </a:xfrm>
          <a:prstGeom prst="roundRect">
            <a:avLst>
              <a:gd name="adj" fmla="val 2537"/>
            </a:avLst>
          </a:prstGeom>
          <a:solidFill>
            <a:srgbClr val="233457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5"/>
          <a:srcRect t="-17" b="-17"/>
          <a:stretch/>
        </p:blipFill>
        <p:spPr>
          <a:xfrm>
            <a:off x="4448556" y="2076602"/>
            <a:ext cx="3295498" cy="1067105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4677156" y="2338121"/>
            <a:ext cx="533095" cy="533095"/>
          </a:xfrm>
          <a:prstGeom prst="ellipse">
            <a:avLst/>
          </a:prstGeom>
          <a:solidFill>
            <a:srgbClr val="C9A84C">
              <a:alpha val="30000"/>
            </a:srgbClr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1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828946" y="2490826"/>
            <a:ext cx="228600" cy="22860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160313" y="2638044"/>
            <a:ext cx="13624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B2B 파트너십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1"/>
          <a:srcRect t="-3" b="-3"/>
          <a:stretch/>
        </p:blipFill>
        <p:spPr>
          <a:xfrm>
            <a:off x="4677156" y="3372307"/>
            <a:ext cx="2838298" cy="80010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4858207" y="3377752"/>
            <a:ext cx="26060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Target Customers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" name="Text 21"/>
          <p:cNvSpPr txBox="1"/>
          <p:nvPr/>
        </p:nvSpPr>
        <p:spPr>
          <a:xfrm>
            <a:off x="4858207" y="3676802"/>
            <a:ext cx="2695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위탁 운영사 / 숙박 컨설팅사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6" name="Text 22"/>
          <p:cNvSpPr txBox="1"/>
          <p:nvPr/>
        </p:nvSpPr>
        <p:spPr>
          <a:xfrm>
            <a:off x="4858207" y="3905402"/>
            <a:ext cx="2695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다수 호텔 관리 기업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7" name="Shape 23"/>
          <p:cNvSpPr/>
          <p:nvPr/>
        </p:nvSpPr>
        <p:spPr>
          <a:xfrm>
            <a:off x="4677156" y="4629607"/>
            <a:ext cx="28382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38" name="Text 24"/>
          <p:cNvSpPr txBox="1"/>
          <p:nvPr/>
        </p:nvSpPr>
        <p:spPr>
          <a:xfrm>
            <a:off x="4677156" y="4362602"/>
            <a:ext cx="2915107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핵심 전략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77156" y="4753051"/>
            <a:ext cx="95098" cy="95098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4772254" y="4753051"/>
            <a:ext cx="29699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단일 계약으로 복수 호텔 확보 (Lock-in 효과)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1" name="Image 13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77156" y="5067605"/>
            <a:ext cx="95098" cy="95098"/>
          </a:xfrm>
          <a:prstGeom prst="rect">
            <a:avLst/>
          </a:prstGeom>
        </p:spPr>
      </p:pic>
      <p:sp>
        <p:nvSpPr>
          <p:cNvPr id="42" name="Text 26"/>
          <p:cNvSpPr txBox="1"/>
          <p:nvPr/>
        </p:nvSpPr>
        <p:spPr>
          <a:xfrm>
            <a:off x="4772254" y="5067605"/>
            <a:ext cx="3103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통합 관리 대시보드 제공으로 운영 효율성 제고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677156" y="5381244"/>
            <a:ext cx="95098" cy="95098"/>
          </a:xfrm>
          <a:prstGeom prst="rect">
            <a:avLst/>
          </a:prstGeom>
        </p:spPr>
      </p:pic>
      <p:sp>
        <p:nvSpPr>
          <p:cNvPr id="44" name="Text 27"/>
          <p:cNvSpPr txBox="1"/>
          <p:nvPr/>
        </p:nvSpPr>
        <p:spPr>
          <a:xfrm>
            <a:off x="4772254" y="5381244"/>
            <a:ext cx="27770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성공 사례(Reference) 기반의 신뢰도 확보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5" name="Shape 28"/>
          <p:cNvSpPr/>
          <p:nvPr/>
        </p:nvSpPr>
        <p:spPr>
          <a:xfrm>
            <a:off x="6236208" y="2314346"/>
            <a:ext cx="1285646" cy="247802"/>
          </a:xfrm>
          <a:prstGeom prst="roundRect">
            <a:avLst>
              <a:gd name="adj" fmla="val 369004"/>
            </a:avLst>
          </a:prstGeom>
          <a:solidFill>
            <a:srgbClr val="C9A84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29"/>
          <p:cNvSpPr/>
          <p:nvPr/>
        </p:nvSpPr>
        <p:spPr>
          <a:xfrm>
            <a:off x="6179515" y="2314346"/>
            <a:ext cx="13432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시장 확장 (Scale-up)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7" name="Text 30"/>
          <p:cNvSpPr txBox="1"/>
          <p:nvPr/>
        </p:nvSpPr>
        <p:spPr>
          <a:xfrm>
            <a:off x="7010705" y="2229307"/>
            <a:ext cx="619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1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02</a:t>
            </a:r>
            <a:endParaRPr lang="en-US" sz="3600" dirty="0"/>
          </a:p>
        </p:txBody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7839151" y="3962095"/>
            <a:ext cx="142646" cy="228600"/>
          </a:xfrm>
          <a:prstGeom prst="rect">
            <a:avLst/>
          </a:prstGeom>
        </p:spPr>
      </p:pic>
      <p:sp>
        <p:nvSpPr>
          <p:cNvPr id="49" name="Shape 31"/>
          <p:cNvSpPr/>
          <p:nvPr/>
        </p:nvSpPr>
        <p:spPr>
          <a:xfrm>
            <a:off x="8305495" y="2066544"/>
            <a:ext cx="3314700" cy="4000500"/>
          </a:xfrm>
          <a:prstGeom prst="roundRect">
            <a:avLst>
              <a:gd name="adj" fmla="val 2537"/>
            </a:avLst>
          </a:prstGeom>
          <a:solidFill>
            <a:srgbClr val="152238">
              <a:alpha val="7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5"/>
          <a:srcRect t="-17" b="-17"/>
          <a:stretch/>
        </p:blipFill>
        <p:spPr>
          <a:xfrm>
            <a:off x="8315554" y="2076602"/>
            <a:ext cx="3295498" cy="1067105"/>
          </a:xfrm>
          <a:prstGeom prst="rect">
            <a:avLst/>
          </a:prstGeom>
        </p:spPr>
      </p:pic>
      <p:sp>
        <p:nvSpPr>
          <p:cNvPr id="51" name="Shape 32"/>
          <p:cNvSpPr/>
          <p:nvPr/>
        </p:nvSpPr>
        <p:spPr>
          <a:xfrm>
            <a:off x="8544154" y="2338121"/>
            <a:ext cx="533095" cy="533095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695944" y="2490826"/>
            <a:ext cx="228600" cy="228600"/>
          </a:xfrm>
          <a:prstGeom prst="rect">
            <a:avLst/>
          </a:prstGeom>
        </p:spPr>
      </p:pic>
      <p:sp>
        <p:nvSpPr>
          <p:cNvPr id="53" name="Text 33"/>
          <p:cNvSpPr txBox="1"/>
          <p:nvPr/>
        </p:nvSpPr>
        <p:spPr>
          <a:xfrm>
            <a:off x="9713671" y="2638044"/>
            <a:ext cx="167243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시장 지배력 확대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4" name="Image 18" descr="preencoded.png"/>
          <p:cNvPicPr>
            <a:picLocks noChangeAspect="1"/>
          </p:cNvPicPr>
          <p:nvPr/>
        </p:nvPicPr>
        <p:blipFill>
          <a:blip r:embed="rId13"/>
          <a:srcRect t="-3" b="-3"/>
          <a:stretch/>
        </p:blipFill>
        <p:spPr>
          <a:xfrm>
            <a:off x="8544154" y="3372307"/>
            <a:ext cx="2838298" cy="800100"/>
          </a:xfrm>
          <a:prstGeom prst="rect">
            <a:avLst/>
          </a:prstGeom>
        </p:spPr>
      </p:pic>
      <p:sp>
        <p:nvSpPr>
          <p:cNvPr id="55" name="Text 34"/>
          <p:cNvSpPr txBox="1"/>
          <p:nvPr/>
        </p:nvSpPr>
        <p:spPr>
          <a:xfrm>
            <a:off x="8725205" y="3377752"/>
            <a:ext cx="26060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Target Customers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6" name="Text 35"/>
          <p:cNvSpPr txBox="1"/>
          <p:nvPr/>
        </p:nvSpPr>
        <p:spPr>
          <a:xfrm>
            <a:off x="8725205" y="3676802"/>
            <a:ext cx="2695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체인 호텔 / 지역 기반 그룹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7" name="Text 36"/>
          <p:cNvSpPr txBox="1"/>
          <p:nvPr/>
        </p:nvSpPr>
        <p:spPr>
          <a:xfrm>
            <a:off x="8725205" y="3905402"/>
            <a:ext cx="2695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해외 중소형 호텔 시장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8" name="Shape 37"/>
          <p:cNvSpPr/>
          <p:nvPr/>
        </p:nvSpPr>
        <p:spPr>
          <a:xfrm>
            <a:off x="8544154" y="4629607"/>
            <a:ext cx="2838298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9" name="Text 38"/>
          <p:cNvSpPr txBox="1"/>
          <p:nvPr/>
        </p:nvSpPr>
        <p:spPr>
          <a:xfrm>
            <a:off x="8544154" y="4362602"/>
            <a:ext cx="2915107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핵심 전략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0" name="Image 19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44154" y="4753051"/>
            <a:ext cx="95098" cy="95098"/>
          </a:xfrm>
          <a:prstGeom prst="rect">
            <a:avLst/>
          </a:prstGeom>
        </p:spPr>
      </p:pic>
      <p:sp>
        <p:nvSpPr>
          <p:cNvPr id="61" name="Text 39"/>
          <p:cNvSpPr txBox="1"/>
          <p:nvPr/>
        </p:nvSpPr>
        <p:spPr>
          <a:xfrm>
            <a:off x="8639251" y="4753051"/>
            <a:ext cx="295717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AI 고도화 및 </a:t>
            </a: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개인화 마케팅 연동</a:t>
            </a: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기능 확장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2" name="Image 20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44154" y="5067605"/>
            <a:ext cx="95098" cy="95098"/>
          </a:xfrm>
          <a:prstGeom prst="rect">
            <a:avLst/>
          </a:prstGeom>
        </p:spPr>
      </p:pic>
      <p:sp>
        <p:nvSpPr>
          <p:cNvPr id="63" name="Text 40"/>
          <p:cNvSpPr txBox="1"/>
          <p:nvPr/>
        </p:nvSpPr>
        <p:spPr>
          <a:xfrm>
            <a:off x="8639251" y="5067605"/>
            <a:ext cx="25520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글로벌 PMS 연동 확대 및 다국어 지원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4" name="Image 21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44154" y="5381244"/>
            <a:ext cx="95098" cy="95098"/>
          </a:xfrm>
          <a:prstGeom prst="rect">
            <a:avLst/>
          </a:prstGeom>
        </p:spPr>
      </p:pic>
      <p:sp>
        <p:nvSpPr>
          <p:cNvPr id="65" name="Text 41"/>
          <p:cNvSpPr txBox="1"/>
          <p:nvPr/>
        </p:nvSpPr>
        <p:spPr>
          <a:xfrm>
            <a:off x="8639251" y="5381244"/>
            <a:ext cx="282823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아시아 시장을 시작으로 글로벌 SaaS 진출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6" name="Shape 42"/>
          <p:cNvSpPr/>
          <p:nvPr/>
        </p:nvSpPr>
        <p:spPr>
          <a:xfrm>
            <a:off x="9981590" y="2314346"/>
            <a:ext cx="1410005" cy="247802"/>
          </a:xfrm>
          <a:prstGeom prst="roundRect">
            <a:avLst>
              <a:gd name="adj" fmla="val 369004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43"/>
          <p:cNvSpPr/>
          <p:nvPr/>
        </p:nvSpPr>
        <p:spPr>
          <a:xfrm>
            <a:off x="9923983" y="2314346"/>
            <a:ext cx="146761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3C5FD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고도화·글로벌 (Global)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8" name="Text 44"/>
          <p:cNvSpPr txBox="1"/>
          <p:nvPr/>
        </p:nvSpPr>
        <p:spPr>
          <a:xfrm>
            <a:off x="10877702" y="2229307"/>
            <a:ext cx="619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10000"/>
                  </a:srgbClr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03</a:t>
            </a:r>
            <a:endParaRPr lang="en-US" sz="3600" dirty="0"/>
          </a:p>
        </p:txBody>
      </p:sp>
      <p:sp>
        <p:nvSpPr>
          <p:cNvPr id="69" name="Shape 45"/>
          <p:cNvSpPr/>
          <p:nvPr/>
        </p:nvSpPr>
        <p:spPr>
          <a:xfrm>
            <a:off x="609905" y="1114654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70" name="Text 46"/>
          <p:cNvSpPr txBox="1"/>
          <p:nvPr/>
        </p:nvSpPr>
        <p:spPr>
          <a:xfrm>
            <a:off x="1218895" y="381305"/>
            <a:ext cx="42291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Growth Strategy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1" name="Text 47"/>
          <p:cNvSpPr txBox="1"/>
          <p:nvPr/>
        </p:nvSpPr>
        <p:spPr>
          <a:xfrm>
            <a:off x="1218895" y="647395"/>
            <a:ext cx="586130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시장 진입 전략 </a:t>
            </a:r>
            <a:r>
              <a:rPr lang="en-US" sz="1800" b="1" kern="0" spc="-67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3-Stage Roadmap</a:t>
            </a:r>
            <a:endParaRPr lang="en-US" sz="27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2" name="Text 48"/>
          <p:cNvSpPr txBox="1"/>
          <p:nvPr/>
        </p:nvSpPr>
        <p:spPr>
          <a:xfrm>
            <a:off x="8391449" y="847649"/>
            <a:ext cx="25850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Step-by-step Market Expansion Plan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3" name="Text 7">
            <a:extLst>
              <a:ext uri="{FF2B5EF4-FFF2-40B4-BE49-F238E27FC236}">
                <a16:creationId xmlns:a16="http://schemas.microsoft.com/office/drawing/2014/main" id="{A2C47040-7EF0-0FBF-6F7B-2B86427B45E9}"/>
              </a:ext>
            </a:extLst>
          </p:cNvPr>
          <p:cNvSpPr txBox="1"/>
          <p:nvPr/>
        </p:nvSpPr>
        <p:spPr>
          <a:xfrm>
            <a:off x="990295" y="3570973"/>
            <a:ext cx="2695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RM </a:t>
            </a:r>
            <a:r>
              <a:rPr lang="ko-KR" alt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교육 </a:t>
            </a:r>
            <a:r>
              <a:rPr lang="en-US" altLang="ko-KR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/ </a:t>
            </a:r>
            <a:r>
              <a:rPr lang="ko-KR" alt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대형 독립형 호텔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(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전문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RM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존재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]</a:t>
            </a:r>
            <a:endParaRPr lang="en-US" sz="900" dirty="0">
              <a:solidFill>
                <a:schemeClr val="bg1">
                  <a:lumMod val="6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1352398"/>
            <a:ext cx="6448349" cy="5048402"/>
          </a:xfrm>
          <a:prstGeom prst="roundRect">
            <a:avLst>
              <a:gd name="adj" fmla="val 820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649" y="1647749"/>
            <a:ext cx="152705" cy="15270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14654" y="1591056"/>
            <a:ext cx="19760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고객 그룹별 매출 계획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124897"/>
              </p:ext>
            </p:extLst>
          </p:nvPr>
        </p:nvGraphicFramePr>
        <p:xfrm>
          <a:off x="740229" y="2009851"/>
          <a:ext cx="6073880" cy="3382668"/>
        </p:xfrm>
        <a:graphic>
          <a:graphicData uri="http://schemas.openxmlformats.org/drawingml/2006/table">
            <a:tbl>
              <a:tblPr/>
              <a:tblGrid>
                <a:gridCol w="1166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4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7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45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35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고객 구분</a:t>
                      </a:r>
                      <a:endParaRPr lang="en-US" sz="9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제품/서비스</a:t>
                      </a:r>
                      <a:endParaRPr lang="en-US" sz="9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진출 시기</a:t>
                      </a:r>
                      <a:endParaRPr lang="en-US" sz="9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판매량</a:t>
                      </a:r>
                      <a:endParaRPr lang="en-US" sz="9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가격 (단가)</a:t>
                      </a:r>
                      <a:endParaRPr lang="en-US" sz="9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C9A84C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예상 매출</a:t>
                      </a:r>
                      <a:endParaRPr lang="en-US" sz="9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14300" marB="114300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 err="1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에덴파라다</a:t>
                      </a:r>
                      <a:r>
                        <a:rPr lang="ko-KR" alt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이스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Application</a:t>
                      </a:r>
                      <a:endParaRPr lang="en-US" sz="12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26.09 ~ 29.08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charset="0"/>
                        </a:rPr>
                        <a:t>1</a:t>
                      </a:r>
                      <a:r>
                        <a:rPr lang="ko-KR" alt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charset="0"/>
                        </a:rPr>
                        <a:t>개 호텔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1.5백만원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chemeClr val="bg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charset="0"/>
                        </a:rPr>
                        <a:t>54</a:t>
                      </a: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charset="0"/>
                        </a:rPr>
                        <a:t>백만원</a:t>
                      </a:r>
                      <a:endParaRPr lang="en-US" sz="1000" dirty="0">
                        <a:solidFill>
                          <a:schemeClr val="bg1"/>
                        </a:solidFill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신라스테이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Application</a:t>
                      </a:r>
                      <a:endParaRPr lang="en-US" sz="12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26.10 ~ 28.09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20개 호텔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50만원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240백만원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 err="1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대형</a:t>
                      </a: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 </a:t>
                      </a:r>
                      <a:r>
                        <a:rPr lang="en-US" sz="975" dirty="0" err="1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독립</a:t>
                      </a:r>
                      <a:r>
                        <a:rPr lang="ko-KR" alt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호텔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1D5DB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Application</a:t>
                      </a:r>
                      <a:endParaRPr lang="en-US" sz="12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26.10 ~ 28.09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10개 호텔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charset="0"/>
                        </a:rPr>
                        <a:t>1</a:t>
                      </a:r>
                      <a:r>
                        <a:rPr lang="ko-KR" alt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charset="0"/>
                        </a:rPr>
                        <a:t>백만원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240백만원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호텔 운영사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BFDBFE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App + SaaS</a:t>
                      </a:r>
                      <a:endParaRPr lang="en-US" sz="12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27.01 ~ 26.12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10개 호텔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50만원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E2E8F0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120백만원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중소형 호텔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SaaS</a:t>
                      </a:r>
                      <a:endParaRPr lang="en-US" sz="1200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27.03 ~ 30.02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50개 호텔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150만원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75" dirty="0">
                          <a:solidFill>
                            <a:srgbClr val="FFFFFF"/>
                          </a:solidFill>
                          <a:latin typeface="HY헤드라인M" panose="02030600000101010101" pitchFamily="18" charset="-127"/>
                          <a:ea typeface="HY헤드라인M" panose="02030600000101010101" pitchFamily="18" charset="-127"/>
                          <a:cs typeface="Noto Sans KR" pitchFamily="34" charset="-120"/>
                        </a:rPr>
                        <a:t>2,700백만원</a:t>
                      </a:r>
                      <a:endParaRPr lang="en-US" sz="975" dirty="0"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Noto Sans KR" charset="0"/>
                      </a:endParaRPr>
                    </a:p>
                  </a:txBody>
                  <a:tcPr marL="152705" marR="152705" marT="133502" marB="133502" anchor="ctr">
                    <a:lnL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C9A8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47649" y="5848502"/>
            <a:ext cx="5971946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47649" y="6010351"/>
            <a:ext cx="38258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* 예상 매출은 시장 상황 및 계약 조건에 따라 변동될 수 있습니다.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6292901" y="6010351"/>
            <a:ext cx="6007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단위: KRW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Shape 6"/>
          <p:cNvSpPr/>
          <p:nvPr/>
        </p:nvSpPr>
        <p:spPr>
          <a:xfrm>
            <a:off x="7357262" y="1352398"/>
            <a:ext cx="3372307" cy="5048402"/>
          </a:xfrm>
          <a:prstGeom prst="roundRect">
            <a:avLst>
              <a:gd name="adj" fmla="val 1838"/>
            </a:avLst>
          </a:prstGeom>
          <a:solidFill>
            <a:srgbClr val="152238">
              <a:alpha val="8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595006" y="3376879"/>
            <a:ext cx="3010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Total Estimated Revenue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7595006" y="3567074"/>
            <a:ext cx="9098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30.8</a:t>
            </a:r>
            <a:endParaRPr lang="en-US" sz="27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8397850" y="3690518"/>
            <a:ext cx="61264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억원 +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t="-395" b="-395"/>
          <a:stretch/>
        </p:blipFill>
        <p:spPr>
          <a:xfrm>
            <a:off x="7595006" y="4110228"/>
            <a:ext cx="2895905" cy="384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480706" y="4224528"/>
            <a:ext cx="3010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Target Achievement Rate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609905" y="6476695"/>
            <a:ext cx="19723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NOVASTAY Financial Projection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2" name="Text 15"/>
          <p:cNvSpPr txBox="1"/>
          <p:nvPr/>
        </p:nvSpPr>
        <p:spPr>
          <a:xfrm>
            <a:off x="11455603" y="6476695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609905" y="1114654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1218895" y="381305"/>
            <a:ext cx="3134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Revenue Projection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1218895" y="647395"/>
            <a:ext cx="47201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매출 추정 </a:t>
            </a:r>
            <a:r>
              <a:rPr lang="en-US" sz="1800" b="1" kern="0" spc="-67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Sales Forecast</a:t>
            </a:r>
            <a:endParaRPr lang="en-US" sz="27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8629193" y="847649"/>
            <a:ext cx="23463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2026-2030 Business Growth Plan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9905" y="6476695"/>
            <a:ext cx="19165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NOVASTAY Business Plan 2026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455603" y="6476695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952805" y="2333549"/>
            <a:ext cx="10287000" cy="384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t="-400" b="-400"/>
          <a:stretch/>
        </p:blipFill>
        <p:spPr>
          <a:xfrm>
            <a:off x="952805" y="2333549"/>
            <a:ext cx="6172200" cy="3840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61695" y="2667305"/>
            <a:ext cx="2857500" cy="2686507"/>
          </a:xfrm>
          <a:prstGeom prst="roundRect">
            <a:avLst>
              <a:gd name="adj" fmla="val 2897"/>
            </a:avLst>
          </a:prstGeom>
          <a:solidFill>
            <a:srgbClr val="233457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2762" b="-2762"/>
          <a:stretch/>
        </p:blipFill>
        <p:spPr>
          <a:xfrm>
            <a:off x="2266798" y="4091026"/>
            <a:ext cx="1533449" cy="1438351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771754" y="2676449"/>
            <a:ext cx="2838298" cy="1266444"/>
          </a:xfrm>
          <a:prstGeom prst="roundRect">
            <a:avLst>
              <a:gd name="adj" fmla="val 13029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11" name="Shape 5"/>
          <p:cNvSpPr/>
          <p:nvPr/>
        </p:nvSpPr>
        <p:spPr>
          <a:xfrm>
            <a:off x="771754" y="3933749"/>
            <a:ext cx="2838298" cy="9144"/>
          </a:xfrm>
          <a:prstGeom prst="roundRect">
            <a:avLst>
              <a:gd name="adj" fmla="val 18045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1000354" y="2885846"/>
            <a:ext cx="809244" cy="237744"/>
          </a:xfrm>
          <a:prstGeom prst="roundRect">
            <a:avLst>
              <a:gd name="adj" fmla="val 384615"/>
            </a:avLst>
          </a:prstGeom>
          <a:solidFill>
            <a:srgbClr val="C9A84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972007" y="2885846"/>
            <a:ext cx="8668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800" b="1" kern="0" spc="75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01</a:t>
            </a:r>
            <a:endParaRPr lang="en-US" sz="800" dirty="0"/>
          </a:p>
        </p:txBody>
      </p:sp>
      <p:sp>
        <p:nvSpPr>
          <p:cNvPr id="14" name="Text 8"/>
          <p:cNvSpPr txBox="1"/>
          <p:nvPr/>
        </p:nvSpPr>
        <p:spPr>
          <a:xfrm>
            <a:off x="1000354" y="3233318"/>
            <a:ext cx="2477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2025. 01 ~ 04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 9"/>
          <p:cNvSpPr txBox="1"/>
          <p:nvPr/>
        </p:nvSpPr>
        <p:spPr>
          <a:xfrm>
            <a:off x="1000354" y="3471977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서비스 기반 구축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0354" y="4166921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48156" y="4166921"/>
            <a:ext cx="19366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데이터 구조 및 분석 체계 설계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0354" y="4481474"/>
            <a:ext cx="114300" cy="1143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248156" y="4481474"/>
            <a:ext cx="163220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제품 서비스 아키텍처 설계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0354" y="4796028"/>
            <a:ext cx="114300" cy="1143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248156" y="4796028"/>
            <a:ext cx="207568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핵심 기술 지식재산권(특허) </a:t>
            </a:r>
            <a:r>
              <a:rPr lang="en-US" sz="1000" dirty="0" err="1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출원</a:t>
            </a: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</a:t>
            </a:r>
            <a:r>
              <a:rPr lang="ko-KR" alt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협의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3952951" y="4762195"/>
            <a:ext cx="142646" cy="22860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4667098" y="2667305"/>
            <a:ext cx="2857500" cy="2885846"/>
          </a:xfrm>
          <a:prstGeom prst="roundRect">
            <a:avLst>
              <a:gd name="adj" fmla="val 2560"/>
            </a:avLst>
          </a:prstGeom>
          <a:solidFill>
            <a:srgbClr val="233457">
              <a:alpha val="80000"/>
            </a:srgbClr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9"/>
          <a:srcRect t="-5067" b="-5067"/>
          <a:stretch/>
        </p:blipFill>
        <p:spPr>
          <a:xfrm>
            <a:off x="6029554" y="4252874"/>
            <a:ext cx="1676095" cy="1476756"/>
          </a:xfrm>
          <a:prstGeom prst="rect">
            <a:avLst/>
          </a:prstGeom>
        </p:spPr>
      </p:pic>
      <p:sp>
        <p:nvSpPr>
          <p:cNvPr id="25" name="Shape 14"/>
          <p:cNvSpPr/>
          <p:nvPr/>
        </p:nvSpPr>
        <p:spPr>
          <a:xfrm>
            <a:off x="4677156" y="2676449"/>
            <a:ext cx="2838298" cy="1266444"/>
          </a:xfrm>
          <a:prstGeom prst="roundRect">
            <a:avLst>
              <a:gd name="adj" fmla="val 13029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26" name="Shape 15"/>
          <p:cNvSpPr/>
          <p:nvPr/>
        </p:nvSpPr>
        <p:spPr>
          <a:xfrm>
            <a:off x="4677156" y="3933749"/>
            <a:ext cx="2838298" cy="9144"/>
          </a:xfrm>
          <a:prstGeom prst="roundRect">
            <a:avLst>
              <a:gd name="adj" fmla="val 18045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16"/>
          <p:cNvSpPr/>
          <p:nvPr/>
        </p:nvSpPr>
        <p:spPr>
          <a:xfrm>
            <a:off x="4905756" y="2885846"/>
            <a:ext cx="809244" cy="237744"/>
          </a:xfrm>
          <a:prstGeom prst="roundRect">
            <a:avLst>
              <a:gd name="adj" fmla="val 384615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17"/>
          <p:cNvSpPr/>
          <p:nvPr/>
        </p:nvSpPr>
        <p:spPr>
          <a:xfrm>
            <a:off x="4876495" y="2885846"/>
            <a:ext cx="8668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800" b="1" kern="0" spc="75" dirty="0">
                <a:solidFill>
                  <a:srgbClr val="1A2A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02</a:t>
            </a:r>
            <a:endParaRPr lang="en-US" sz="800" dirty="0"/>
          </a:p>
        </p:txBody>
      </p:sp>
      <p:sp>
        <p:nvSpPr>
          <p:cNvPr id="29" name="Text 18"/>
          <p:cNvSpPr txBox="1"/>
          <p:nvPr/>
        </p:nvSpPr>
        <p:spPr>
          <a:xfrm>
            <a:off x="4905756" y="3233318"/>
            <a:ext cx="2477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2025. 05 ~ 08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0" name="Text 19"/>
          <p:cNvSpPr txBox="1"/>
          <p:nvPr/>
        </p:nvSpPr>
        <p:spPr>
          <a:xfrm>
            <a:off x="4905756" y="3471977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제품 개발 및 검증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905756" y="4243730"/>
            <a:ext cx="114300" cy="11430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5153558" y="4166921"/>
            <a:ext cx="171541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MVP 및 핵심 기능 개발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(수요예측, 요금추천, 전략리포트)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905756" y="4757623"/>
            <a:ext cx="114300" cy="11430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5153558" y="4681728"/>
            <a:ext cx="17986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시범 호텔 적용 및 성능 검증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4905756" y="5072177"/>
            <a:ext cx="114300" cy="11430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5153558" y="4996282"/>
            <a:ext cx="17154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사용자 피드백 수집 및 개선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8"/>
          <a:srcRect t="-80" b="-80"/>
          <a:stretch/>
        </p:blipFill>
        <p:spPr>
          <a:xfrm>
            <a:off x="7858354" y="4762195"/>
            <a:ext cx="142646" cy="228600"/>
          </a:xfrm>
          <a:prstGeom prst="rect">
            <a:avLst/>
          </a:prstGeom>
        </p:spPr>
      </p:pic>
      <p:sp>
        <p:nvSpPr>
          <p:cNvPr id="38" name="Shape 23"/>
          <p:cNvSpPr/>
          <p:nvPr/>
        </p:nvSpPr>
        <p:spPr>
          <a:xfrm>
            <a:off x="8572500" y="2667305"/>
            <a:ext cx="2857500" cy="2686507"/>
          </a:xfrm>
          <a:prstGeom prst="roundRect">
            <a:avLst>
              <a:gd name="adj" fmla="val 2897"/>
            </a:avLst>
          </a:prstGeom>
          <a:solidFill>
            <a:srgbClr val="152238">
              <a:alpha val="8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211105" y="4129430"/>
            <a:ext cx="1399946" cy="1399946"/>
          </a:xfrm>
          <a:prstGeom prst="rect">
            <a:avLst/>
          </a:prstGeom>
        </p:spPr>
      </p:pic>
      <p:sp>
        <p:nvSpPr>
          <p:cNvPr id="40" name="Shape 24"/>
          <p:cNvSpPr/>
          <p:nvPr/>
        </p:nvSpPr>
        <p:spPr>
          <a:xfrm>
            <a:off x="8581644" y="2676449"/>
            <a:ext cx="2838298" cy="1266444"/>
          </a:xfrm>
          <a:prstGeom prst="roundRect">
            <a:avLst>
              <a:gd name="adj" fmla="val 13029"/>
            </a:avLst>
          </a:prstGeom>
          <a:solidFill>
            <a:srgbClr val="FFFFFF">
              <a:alpha val="2000"/>
            </a:srgbClr>
          </a:solidFill>
          <a:ln/>
        </p:spPr>
      </p:sp>
      <p:sp>
        <p:nvSpPr>
          <p:cNvPr id="41" name="Shape 25"/>
          <p:cNvSpPr/>
          <p:nvPr/>
        </p:nvSpPr>
        <p:spPr>
          <a:xfrm>
            <a:off x="8581644" y="3933749"/>
            <a:ext cx="2838298" cy="9144"/>
          </a:xfrm>
          <a:prstGeom prst="roundRect">
            <a:avLst>
              <a:gd name="adj" fmla="val 1804511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26"/>
          <p:cNvSpPr/>
          <p:nvPr/>
        </p:nvSpPr>
        <p:spPr>
          <a:xfrm>
            <a:off x="8810244" y="2885846"/>
            <a:ext cx="809244" cy="237744"/>
          </a:xfrm>
          <a:prstGeom prst="roundRect">
            <a:avLst>
              <a:gd name="adj" fmla="val 384615"/>
            </a:avLst>
          </a:prstGeom>
          <a:solidFill>
            <a:srgbClr val="6B728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7"/>
          <p:cNvSpPr/>
          <p:nvPr/>
        </p:nvSpPr>
        <p:spPr>
          <a:xfrm>
            <a:off x="8781898" y="2885846"/>
            <a:ext cx="8668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ctr">
              <a:buNone/>
            </a:pPr>
            <a:r>
              <a:rPr lang="en-US" sz="800" b="1" kern="0" spc="75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03</a:t>
            </a:r>
            <a:endParaRPr lang="en-US" sz="800" dirty="0"/>
          </a:p>
        </p:txBody>
      </p:sp>
      <p:sp>
        <p:nvSpPr>
          <p:cNvPr id="44" name="Text 28"/>
          <p:cNvSpPr txBox="1"/>
          <p:nvPr/>
        </p:nvSpPr>
        <p:spPr>
          <a:xfrm>
            <a:off x="8810244" y="3233318"/>
            <a:ext cx="24771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2026. 11 ~ 27. 02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5" name="Text 29"/>
          <p:cNvSpPr txBox="1"/>
          <p:nvPr/>
        </p:nvSpPr>
        <p:spPr>
          <a:xfrm>
            <a:off x="8810244" y="3471977"/>
            <a:ext cx="2572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상용화 준비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810244" y="4166921"/>
            <a:ext cx="114300" cy="114300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9058046" y="4166921"/>
            <a:ext cx="18534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기능 고도화 및 서비스 안정화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48" name="Image 15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810244" y="4481474"/>
            <a:ext cx="114300" cy="114300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9058046" y="4481474"/>
            <a:ext cx="1657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사용자 편의성(UI/UX) 개선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0" name="Image 16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810244" y="4796028"/>
            <a:ext cx="114300" cy="114300"/>
          </a:xfrm>
          <a:prstGeom prst="rect">
            <a:avLst/>
          </a:prstGeom>
        </p:spPr>
      </p:pic>
      <p:sp>
        <p:nvSpPr>
          <p:cNvPr id="51" name="Text 32"/>
          <p:cNvSpPr txBox="1"/>
          <p:nvPr/>
        </p:nvSpPr>
        <p:spPr>
          <a:xfrm>
            <a:off x="9058046" y="4796028"/>
            <a:ext cx="20747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조기 고객 확보 및 시장 프로모션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2" name="Image 17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2076602" y="2152498"/>
            <a:ext cx="228600" cy="228600"/>
          </a:xfrm>
          <a:prstGeom prst="rect">
            <a:avLst/>
          </a:prstGeom>
        </p:spPr>
      </p:pic>
      <p:pic>
        <p:nvPicPr>
          <p:cNvPr id="53" name="Image 18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5982005" y="2152498"/>
            <a:ext cx="228600" cy="228600"/>
          </a:xfrm>
          <a:prstGeom prst="rect">
            <a:avLst/>
          </a:prstGeom>
        </p:spPr>
      </p:pic>
      <p:pic>
        <p:nvPicPr>
          <p:cNvPr id="54" name="Image 19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887407" y="2152498"/>
            <a:ext cx="228600" cy="228600"/>
          </a:xfrm>
          <a:prstGeom prst="rect">
            <a:avLst/>
          </a:prstGeom>
        </p:spPr>
      </p:pic>
      <p:sp>
        <p:nvSpPr>
          <p:cNvPr id="55" name="Shape 33"/>
          <p:cNvSpPr/>
          <p:nvPr/>
        </p:nvSpPr>
        <p:spPr>
          <a:xfrm>
            <a:off x="609905" y="1114654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56" name="Text 34"/>
          <p:cNvSpPr txBox="1"/>
          <p:nvPr/>
        </p:nvSpPr>
        <p:spPr>
          <a:xfrm>
            <a:off x="1218895" y="381305"/>
            <a:ext cx="43918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Roadmap</a:t>
            </a:r>
            <a:endParaRPr lang="en-US" sz="1000" dirty="0"/>
          </a:p>
        </p:txBody>
      </p:sp>
      <p:sp>
        <p:nvSpPr>
          <p:cNvPr id="57" name="Text 35"/>
          <p:cNvSpPr txBox="1"/>
          <p:nvPr/>
        </p:nvSpPr>
        <p:spPr>
          <a:xfrm>
            <a:off x="1218895" y="647395"/>
            <a:ext cx="634593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사업 로드맵 </a:t>
            </a:r>
            <a:r>
              <a:rPr lang="en-US" sz="1800" b="1" kern="0" spc="-67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Development Timeline</a:t>
            </a:r>
            <a:endParaRPr lang="en-US" sz="27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8" name="Text 36"/>
          <p:cNvSpPr txBox="1"/>
          <p:nvPr/>
        </p:nvSpPr>
        <p:spPr>
          <a:xfrm>
            <a:off x="8311896" y="847649"/>
            <a:ext cx="26645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단계별 개발 및 상용화 계획 (2025-2027)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3F61C-4BC1-A809-FE4B-79B3E8BC7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09F39FE-CBFF-5101-3B43-05E11A9CBDB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C8C3A84-8090-60F6-6700-088618ED16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A8AC4A5-CFFC-B0CB-D2D7-1C1550FDBB79}"/>
              </a:ext>
            </a:extLst>
          </p:cNvPr>
          <p:cNvSpPr txBox="1"/>
          <p:nvPr/>
        </p:nvSpPr>
        <p:spPr>
          <a:xfrm>
            <a:off x="247955" y="6629400"/>
            <a:ext cx="19165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NOVASTAY Business Plan 2026</a:t>
            </a:r>
            <a:endParaRPr lang="en-US" sz="9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1FEEFF1-EB30-ABCE-D9F0-F9C4454CA920}"/>
              </a:ext>
            </a:extLst>
          </p:cNvPr>
          <p:cNvSpPr txBox="1"/>
          <p:nvPr/>
        </p:nvSpPr>
        <p:spPr>
          <a:xfrm>
            <a:off x="11838889" y="6610349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900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F328520E-FA1C-E698-EC90-10D526E6A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553047"/>
          </a:xfrm>
          <a:prstGeom prst="rect">
            <a:avLst/>
          </a:prstGeom>
        </p:spPr>
      </p:pic>
      <p:sp>
        <p:nvSpPr>
          <p:cNvPr id="6" name="실행 단추: 홈으로 이동 5">
            <a:hlinkClick r:id="rId5" highlightClick="1"/>
            <a:extLst>
              <a:ext uri="{FF2B5EF4-FFF2-40B4-BE49-F238E27FC236}">
                <a16:creationId xmlns:a16="http://schemas.microsoft.com/office/drawing/2014/main" id="{A7B49F55-B7ED-79B0-1CD7-6DB2B5FE2541}"/>
              </a:ext>
            </a:extLst>
          </p:cNvPr>
          <p:cNvSpPr/>
          <p:nvPr/>
        </p:nvSpPr>
        <p:spPr>
          <a:xfrm>
            <a:off x="8126186" y="185057"/>
            <a:ext cx="348343" cy="272143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9100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658368"/>
            <a:ext cx="12188952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12188952" cy="676656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C9A84C"/>
                </a:solidFill>
                <a:latin typeface="Malgun Gothic"/>
              </a:rPr>
              <a:t>NOVASTAY  </a:t>
            </a:r>
            <a:r>
              <a:rPr sz="1300">
                <a:solidFill>
                  <a:srgbClr val="9CA3AF"/>
                </a:solidFill>
                <a:latin typeface="Malgun Gothic"/>
              </a:rPr>
              <a:t>|  </a:t>
            </a:r>
            <a:r>
              <a:rPr sz="1600" b="1">
                <a:solidFill>
                  <a:srgbClr val="FFFFFF"/>
                </a:solidFill>
                <a:latin typeface="Malgun Gothic"/>
              </a:rPr>
              <a:t>2024 vs 2025  객실 점유율(OCC) &amp; 매출  월별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5588" y="109728"/>
            <a:ext cx="2880360" cy="42062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500"/>
              </a:spcBef>
            </a:pPr>
            <a:r>
              <a:rPr sz="900" b="1">
                <a:solidFill>
                  <a:srgbClr val="1A2A4A"/>
                </a:solidFill>
                <a:latin typeface="Malgun Gothic"/>
              </a:rPr>
              <a:t>★  8월 이후 구간 강조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824" y="731520"/>
            <a:ext cx="5120640" cy="658368"/>
          </a:xfrm>
          <a:prstGeom prst="rect">
            <a:avLst/>
          </a:prstGeom>
          <a:solidFill>
            <a:srgbClr val="1E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6824" y="731520"/>
            <a:ext cx="64008" cy="65836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3985" y="777241"/>
            <a:ext cx="82586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60A5FA"/>
                </a:solidFill>
                <a:latin typeface="Malgun Gothic"/>
              </a:rPr>
              <a:t>2024년</a:t>
            </a:r>
          </a:p>
        </p:txBody>
      </p:sp>
      <p:sp>
        <p:nvSpPr>
          <p:cNvPr id="8" name="Rectangle 7"/>
          <p:cNvSpPr/>
          <p:nvPr/>
        </p:nvSpPr>
        <p:spPr>
          <a:xfrm>
            <a:off x="1917257" y="813816"/>
            <a:ext cx="12801" cy="4937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95171" y="749809"/>
            <a:ext cx="84670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0A5FA"/>
                </a:solidFill>
                <a:latin typeface="Malgun Gothic"/>
              </a:rPr>
              <a:t>연평균 OCC</a:t>
            </a:r>
          </a:p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62.0%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8937" y="813816"/>
            <a:ext cx="12801" cy="49377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54148" y="749809"/>
            <a:ext cx="110639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60A5FA"/>
                </a:solidFill>
                <a:latin typeface="Malgun Gothic"/>
              </a:rPr>
              <a:t>연간 객실매출</a:t>
            </a:r>
          </a:p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23.8억원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4664" y="731520"/>
            <a:ext cx="5120640" cy="658368"/>
          </a:xfrm>
          <a:prstGeom prst="rect">
            <a:avLst/>
          </a:prstGeom>
          <a:solidFill>
            <a:srgbClr val="3A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24664" y="731520"/>
            <a:ext cx="64008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1825" y="777241"/>
            <a:ext cx="82586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9A84C"/>
                </a:solidFill>
                <a:latin typeface="Malgun Gothic"/>
              </a:rPr>
              <a:t>2025년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5097" y="813816"/>
            <a:ext cx="12801" cy="4937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73011" y="749809"/>
            <a:ext cx="84670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C9A84C"/>
                </a:solidFill>
                <a:latin typeface="Malgun Gothic"/>
              </a:rPr>
              <a:t>연평균 OCC</a:t>
            </a:r>
          </a:p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76.9%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6777" y="813816"/>
            <a:ext cx="12801" cy="4937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31988" y="749809"/>
            <a:ext cx="110639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>
                <a:solidFill>
                  <a:srgbClr val="C9A84C"/>
                </a:solidFill>
                <a:latin typeface="Malgun Gothic"/>
              </a:rPr>
              <a:t>연간 객실매출</a:t>
            </a:r>
          </a:p>
          <a:p>
            <a:pPr algn="ctr"/>
            <a:r>
              <a:rPr b="1">
                <a:solidFill>
                  <a:srgbClr val="FFFFFF"/>
                </a:solidFill>
                <a:latin typeface="Malgun Gothic"/>
              </a:rPr>
              <a:t>28.4억원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756" y="1435609"/>
            <a:ext cx="232948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C9A84C"/>
                </a:solidFill>
                <a:latin typeface="Malgun Gothic"/>
              </a:rPr>
              <a:t>▶  객실 점유율 (OCC)   2024 vs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2756" y="1664209"/>
            <a:ext cx="292608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2756" y="3995929"/>
            <a:ext cx="2329484" cy="2385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C9A84C"/>
                </a:solidFill>
                <a:latin typeface="Malgun Gothic"/>
              </a:rPr>
              <a:t>▶  객실 매출 (억원)      2024 vs 2025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2756" y="4224529"/>
            <a:ext cx="292608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hart_occ_no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748" y="1673352"/>
            <a:ext cx="11905488" cy="2267712"/>
          </a:xfrm>
          <a:prstGeom prst="rect">
            <a:avLst/>
          </a:prstGeom>
        </p:spPr>
      </p:pic>
      <p:pic>
        <p:nvPicPr>
          <p:cNvPr id="25" name="Picture 24" descr="chart_rev_nov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48" y="4206240"/>
            <a:ext cx="11905488" cy="226771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2757" y="6565393"/>
            <a:ext cx="5149167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6B7280"/>
                </a:solidFill>
                <a:latin typeface="Malgun Gothic"/>
              </a:rPr>
              <a:t>주황 음영 = 2024년 8월 이후 강조 구간  │  객실 매출 기준: P&amp;L 종합본  │  단위: 억원  │  NOVASTAY Analytics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863CB4-F948-CAEB-1F25-12167CE82CAF}"/>
              </a:ext>
            </a:extLst>
          </p:cNvPr>
          <p:cNvSpPr txBox="1"/>
          <p:nvPr/>
        </p:nvSpPr>
        <p:spPr>
          <a:xfrm>
            <a:off x="4254066" y="1706680"/>
            <a:ext cx="15676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sz="1400" b="1" dirty="0">
                <a:solidFill>
                  <a:srgbClr val="C9A84C"/>
                </a:solidFill>
                <a:latin typeface="Malgun Gothic"/>
              </a:rPr>
              <a:t>OCC  </a:t>
            </a:r>
            <a:r>
              <a:rPr lang="en-US" sz="1400" b="1" dirty="0">
                <a:solidFill>
                  <a:srgbClr val="C9A84C"/>
                </a:solidFill>
                <a:latin typeface="Malgun Gothic"/>
              </a:rPr>
              <a:t>:</a:t>
            </a:r>
            <a:r>
              <a:rPr sz="1400" b="1" dirty="0">
                <a:solidFill>
                  <a:srgbClr val="C9A84C"/>
                </a:solidFill>
                <a:latin typeface="Malgun Gothic"/>
              </a:rPr>
              <a:t> 14.9%p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AED3F8-9D08-DEA3-867A-7DCCECA27F27}"/>
              </a:ext>
            </a:extLst>
          </p:cNvPr>
          <p:cNvSpPr txBox="1"/>
          <p:nvPr/>
        </p:nvSpPr>
        <p:spPr>
          <a:xfrm>
            <a:off x="4326602" y="4294377"/>
            <a:ext cx="1495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 err="1">
                <a:solidFill>
                  <a:srgbClr val="C9A84C"/>
                </a:solidFill>
                <a:latin typeface="Malgun Gothic"/>
              </a:rPr>
              <a:t>매출</a:t>
            </a:r>
            <a:r>
              <a:rPr sz="1400" b="1" dirty="0">
                <a:solidFill>
                  <a:srgbClr val="C9A84C"/>
                </a:solidFill>
                <a:latin typeface="Malgun Gothic"/>
              </a:rPr>
              <a:t>  </a:t>
            </a:r>
            <a:r>
              <a:rPr lang="en-US" sz="1400" b="1" dirty="0">
                <a:solidFill>
                  <a:srgbClr val="C9A84C"/>
                </a:solidFill>
                <a:latin typeface="Malgun Gothic"/>
              </a:rPr>
              <a:t>:</a:t>
            </a:r>
            <a:r>
              <a:rPr sz="1400" b="1" dirty="0">
                <a:solidFill>
                  <a:srgbClr val="C9A84C"/>
                </a:solidFill>
                <a:latin typeface="Malgun Gothic"/>
              </a:rPr>
              <a:t> 19.3%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1234468"/>
            <a:ext cx="5333695" cy="4352544"/>
          </a:xfrm>
          <a:prstGeom prst="roundRect">
            <a:avLst>
              <a:gd name="adj" fmla="val 1103"/>
            </a:avLst>
          </a:prstGeom>
          <a:solidFill>
            <a:srgbClr val="152238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-96" b="-96"/>
          <a:stretch/>
        </p:blipFill>
        <p:spPr>
          <a:xfrm>
            <a:off x="4876495" y="4533595"/>
            <a:ext cx="1248156" cy="14292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48095" y="1209071"/>
            <a:ext cx="5333695" cy="4352544"/>
          </a:xfrm>
          <a:prstGeom prst="roundRect">
            <a:avLst>
              <a:gd name="adj" fmla="val 1103"/>
            </a:avLst>
          </a:prstGeom>
          <a:solidFill>
            <a:srgbClr val="152238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 l="-46" r="-46"/>
          <a:stretch/>
        </p:blipFill>
        <p:spPr>
          <a:xfrm>
            <a:off x="10153498" y="4533595"/>
            <a:ext cx="1609344" cy="142920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58428" y="5656477"/>
            <a:ext cx="10972800" cy="857707"/>
          </a:xfrm>
          <a:prstGeom prst="roundRect">
            <a:avLst>
              <a:gd name="adj" fmla="val 28429"/>
            </a:avLst>
          </a:prstGeom>
          <a:solidFill>
            <a:srgbClr val="152238">
              <a:alpha val="4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05256" y="577396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F2937"/>
          </a:solidFill>
          <a:ln w="12700">
            <a:solidFill>
              <a:srgbClr val="4B5563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1000354" y="5888260"/>
            <a:ext cx="190195" cy="15270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8351" y="5736470"/>
            <a:ext cx="29910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Strategic Technical Partner</a:t>
            </a:r>
            <a:endParaRPr lang="en-US" sz="900" dirty="0"/>
          </a:p>
        </p:txBody>
      </p:sp>
      <p:sp>
        <p:nvSpPr>
          <p:cNvPr id="12" name="Text 6"/>
          <p:cNvSpPr txBox="1"/>
          <p:nvPr/>
        </p:nvSpPr>
        <p:spPr>
          <a:xfrm>
            <a:off x="1438351" y="5926665"/>
            <a:ext cx="361645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인터루드 커뮤니케이션즈 </a:t>
            </a:r>
            <a:r>
              <a:rPr lang="en-US" sz="1000" b="1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(서울 소재)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8585302" y="5784019"/>
            <a:ext cx="2704795" cy="362102"/>
          </a:xfrm>
          <a:prstGeom prst="roundRect">
            <a:avLst>
              <a:gd name="adj" fmla="val 53163"/>
            </a:avLst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8975750" y="5869972"/>
            <a:ext cx="241127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특급호텔 내부 프로그램 개발 경험 보유 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8748065" y="5905634"/>
            <a:ext cx="114300" cy="13350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82346" y="6517844"/>
            <a:ext cx="17099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NOVASTAY Team Competency</a:t>
            </a:r>
            <a:endParaRPr lang="en-US" sz="900" dirty="0"/>
          </a:p>
        </p:txBody>
      </p:sp>
      <p:sp>
        <p:nvSpPr>
          <p:cNvPr id="17" name="Text 10"/>
          <p:cNvSpPr txBox="1"/>
          <p:nvPr/>
        </p:nvSpPr>
        <p:spPr>
          <a:xfrm>
            <a:off x="11827743" y="6592907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619049" y="1243609"/>
            <a:ext cx="5315407" cy="1310309"/>
          </a:xfrm>
          <a:prstGeom prst="roundRect">
            <a:avLst>
              <a:gd name="adj" fmla="val 1283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19" name="Shape 12"/>
          <p:cNvSpPr/>
          <p:nvPr/>
        </p:nvSpPr>
        <p:spPr>
          <a:xfrm>
            <a:off x="619049" y="2570238"/>
            <a:ext cx="5315407" cy="9144"/>
          </a:xfrm>
          <a:prstGeom prst="roundRect">
            <a:avLst>
              <a:gd name="adj" fmla="val 179104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47649" y="1552510"/>
            <a:ext cx="761695" cy="761695"/>
          </a:xfrm>
          <a:prstGeom prst="rect">
            <a:avLst/>
          </a:prstGeom>
        </p:spPr>
      </p:pic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 l="-107" r="-107"/>
          <a:stretch/>
        </p:blipFill>
        <p:spPr>
          <a:xfrm>
            <a:off x="1095451" y="1781110"/>
            <a:ext cx="267005" cy="304495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800454" y="1840546"/>
            <a:ext cx="144018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문병윤 </a:t>
            </a:r>
            <a:r>
              <a:rPr lang="en-US" sz="1000" b="1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대표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3" name="Text 14"/>
          <p:cNvSpPr txBox="1"/>
          <p:nvPr/>
        </p:nvSpPr>
        <p:spPr>
          <a:xfrm>
            <a:off x="1800454" y="2183446"/>
            <a:ext cx="156088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경상대학교 재료공학과 졸업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Shape 15"/>
          <p:cNvSpPr/>
          <p:nvPr/>
        </p:nvSpPr>
        <p:spPr>
          <a:xfrm>
            <a:off x="1800454" y="1550682"/>
            <a:ext cx="1266444" cy="237744"/>
          </a:xfrm>
          <a:prstGeom prst="roundRect">
            <a:avLst>
              <a:gd name="adj" fmla="val 123077"/>
            </a:avLst>
          </a:prstGeom>
          <a:solidFill>
            <a:srgbClr val="C9A84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6"/>
          <p:cNvSpPr txBox="1"/>
          <p:nvPr/>
        </p:nvSpPr>
        <p:spPr>
          <a:xfrm>
            <a:off x="1800454" y="1550682"/>
            <a:ext cx="13240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C9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Representative</a:t>
            </a:r>
            <a:endParaRPr lang="en-US" sz="800" dirty="0"/>
          </a:p>
        </p:txBody>
      </p:sp>
      <p:sp>
        <p:nvSpPr>
          <p:cNvPr id="26" name="Text 17"/>
          <p:cNvSpPr txBox="1"/>
          <p:nvPr/>
        </p:nvSpPr>
        <p:spPr>
          <a:xfrm>
            <a:off x="847649" y="2803410"/>
            <a:ext cx="4972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Major Experience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847649" y="3032010"/>
            <a:ext cx="19202" cy="19019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981151" y="3032010"/>
            <a:ext cx="4839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Hotel Management 14년+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7649" y="3526700"/>
            <a:ext cx="75895" cy="75895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923544" y="3526700"/>
            <a:ext cx="323697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前 힐튼 / 사우스케이프 / 라마다프라자제주 등 근무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7649" y="3826623"/>
            <a:ext cx="75895" cy="75895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23544" y="3826623"/>
            <a:ext cx="284652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호텔 경영기획, 손익분석, 인사·조직관리 총괄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7649" y="4126546"/>
            <a:ext cx="75895" cy="75895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923544" y="4126546"/>
            <a:ext cx="253746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자금 집행 및 세무, 행정 업무 전반 수행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5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7649" y="4427384"/>
            <a:ext cx="75895" cy="75895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923544" y="4427384"/>
            <a:ext cx="258958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일반행정사 자격 보유 (대관 업무 전문성)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7" name="Shape 24"/>
          <p:cNvSpPr/>
          <p:nvPr/>
        </p:nvSpPr>
        <p:spPr>
          <a:xfrm>
            <a:off x="847649" y="4917502"/>
            <a:ext cx="48582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Shape 25"/>
          <p:cNvSpPr/>
          <p:nvPr/>
        </p:nvSpPr>
        <p:spPr>
          <a:xfrm>
            <a:off x="847649" y="5117756"/>
            <a:ext cx="694944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Text 26"/>
          <p:cNvSpPr/>
          <p:nvPr/>
        </p:nvSpPr>
        <p:spPr>
          <a:xfrm>
            <a:off x="819302" y="5117756"/>
            <a:ext cx="7525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#사업기획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0" name="Shape 27"/>
          <p:cNvSpPr/>
          <p:nvPr/>
        </p:nvSpPr>
        <p:spPr>
          <a:xfrm>
            <a:off x="1616659" y="5117756"/>
            <a:ext cx="694944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1" name="Text 28"/>
          <p:cNvSpPr/>
          <p:nvPr/>
        </p:nvSpPr>
        <p:spPr>
          <a:xfrm>
            <a:off x="1588313" y="5117756"/>
            <a:ext cx="7525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#손익관리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2" name="Shape 29"/>
          <p:cNvSpPr/>
          <p:nvPr/>
        </p:nvSpPr>
        <p:spPr>
          <a:xfrm>
            <a:off x="2385670" y="5117756"/>
            <a:ext cx="694944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2357323" y="5117756"/>
            <a:ext cx="752551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#HR/조직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4" name="Shape 31"/>
          <p:cNvSpPr/>
          <p:nvPr/>
        </p:nvSpPr>
        <p:spPr>
          <a:xfrm>
            <a:off x="3150108" y="5117756"/>
            <a:ext cx="599846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5" name="Text 32"/>
          <p:cNvSpPr/>
          <p:nvPr/>
        </p:nvSpPr>
        <p:spPr>
          <a:xfrm>
            <a:off x="3121762" y="5117756"/>
            <a:ext cx="6574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#행정사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6" name="Shape 33"/>
          <p:cNvSpPr/>
          <p:nvPr/>
        </p:nvSpPr>
        <p:spPr>
          <a:xfrm>
            <a:off x="6258154" y="1226676"/>
            <a:ext cx="5315407" cy="1339130"/>
          </a:xfrm>
          <a:prstGeom prst="roundRect">
            <a:avLst>
              <a:gd name="adj" fmla="val 12830"/>
            </a:avLst>
          </a:prstGeom>
          <a:solidFill>
            <a:srgbClr val="FFFFFF">
              <a:alpha val="3000"/>
            </a:srgbClr>
          </a:solidFill>
          <a:ln/>
        </p:spPr>
      </p:sp>
      <p:sp>
        <p:nvSpPr>
          <p:cNvPr id="47" name="Shape 34"/>
          <p:cNvSpPr/>
          <p:nvPr/>
        </p:nvSpPr>
        <p:spPr>
          <a:xfrm>
            <a:off x="6258154" y="2570238"/>
            <a:ext cx="5315407" cy="9144"/>
          </a:xfrm>
          <a:prstGeom prst="roundRect">
            <a:avLst>
              <a:gd name="adj" fmla="val 179104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486754" y="1552510"/>
            <a:ext cx="761695" cy="761695"/>
          </a:xfrm>
          <a:prstGeom prst="rect">
            <a:avLst/>
          </a:prstGeom>
        </p:spPr>
      </p:pic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2"/>
          <a:srcRect l="-90" r="-90"/>
          <a:stretch/>
        </p:blipFill>
        <p:spPr>
          <a:xfrm>
            <a:off x="6676949" y="1781110"/>
            <a:ext cx="381305" cy="304495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7438644" y="1840546"/>
            <a:ext cx="282549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RM 전략가 </a:t>
            </a:r>
            <a:r>
              <a:rPr lang="en-US" sz="1000" b="1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및 제품 개발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1" name="Text 36"/>
          <p:cNvSpPr txBox="1"/>
          <p:nvPr/>
        </p:nvSpPr>
        <p:spPr>
          <a:xfrm>
            <a:off x="7438644" y="2183446"/>
            <a:ext cx="21707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전자정보통신 전공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2" name="Shape 37"/>
          <p:cNvSpPr/>
          <p:nvPr/>
        </p:nvSpPr>
        <p:spPr>
          <a:xfrm>
            <a:off x="7438644" y="1550682"/>
            <a:ext cx="1095451" cy="237744"/>
          </a:xfrm>
          <a:prstGeom prst="roundRect">
            <a:avLst>
              <a:gd name="adj" fmla="val 123077"/>
            </a:avLst>
          </a:prstGeom>
          <a:solidFill>
            <a:srgbClr val="60A5F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38"/>
          <p:cNvSpPr txBox="1"/>
          <p:nvPr/>
        </p:nvSpPr>
        <p:spPr>
          <a:xfrm>
            <a:off x="7438644" y="1550682"/>
            <a:ext cx="11530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Member</a:t>
            </a:r>
            <a:endParaRPr lang="en-US" sz="800" dirty="0"/>
          </a:p>
        </p:txBody>
      </p:sp>
      <p:sp>
        <p:nvSpPr>
          <p:cNvPr id="54" name="Text 39"/>
          <p:cNvSpPr txBox="1"/>
          <p:nvPr/>
        </p:nvSpPr>
        <p:spPr>
          <a:xfrm>
            <a:off x="6486754" y="2803410"/>
            <a:ext cx="49725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0A5FA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Professional Background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5" name="Shape 40"/>
          <p:cNvSpPr/>
          <p:nvPr/>
        </p:nvSpPr>
        <p:spPr>
          <a:xfrm>
            <a:off x="6486754" y="3032010"/>
            <a:ext cx="19202" cy="190195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56" name="Text 41"/>
          <p:cNvSpPr txBox="1"/>
          <p:nvPr/>
        </p:nvSpPr>
        <p:spPr>
          <a:xfrm>
            <a:off x="6620256" y="3032010"/>
            <a:ext cx="4839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Multi-Chain Revenue Manager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86754" y="3526700"/>
            <a:ext cx="75895" cy="75895"/>
          </a:xfrm>
          <a:prstGeom prst="rect">
            <a:avLst/>
          </a:prstGeom>
        </p:spPr>
      </p:pic>
      <p:sp>
        <p:nvSpPr>
          <p:cNvPr id="58" name="Text 42"/>
          <p:cNvSpPr txBox="1"/>
          <p:nvPr/>
        </p:nvSpPr>
        <p:spPr>
          <a:xfrm>
            <a:off x="6562649" y="3526700"/>
            <a:ext cx="3173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IHG Holiday Inn Gwangju / Shilla Stay 본사 RM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86754" y="3826623"/>
            <a:ext cx="75895" cy="75895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6562649" y="3826623"/>
            <a:ext cx="36420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Ramada Plaza Jeju / Haevichi / Grand Josun Jeju RM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86754" y="4126546"/>
            <a:ext cx="75895" cy="75895"/>
          </a:xfrm>
          <a:prstGeom prst="rect">
            <a:avLst/>
          </a:prstGeom>
        </p:spPr>
      </p:pic>
      <p:sp>
        <p:nvSpPr>
          <p:cNvPr id="62" name="Text 44"/>
          <p:cNvSpPr txBox="1"/>
          <p:nvPr/>
        </p:nvSpPr>
        <p:spPr>
          <a:xfrm>
            <a:off x="6562649" y="4126546"/>
            <a:ext cx="30038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데이터 기반 수요 예측 및 Dynamic Pricing 운영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3" name="Image 16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486754" y="4427384"/>
            <a:ext cx="75895" cy="75895"/>
          </a:xfrm>
          <a:prstGeom prst="rect">
            <a:avLst/>
          </a:prstGeom>
        </p:spPr>
      </p:pic>
      <p:sp>
        <p:nvSpPr>
          <p:cNvPr id="64" name="Text 45"/>
          <p:cNvSpPr txBox="1"/>
          <p:nvPr/>
        </p:nvSpPr>
        <p:spPr>
          <a:xfrm>
            <a:off x="6562649" y="4427384"/>
            <a:ext cx="2686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PMS / RMS / CRS 시스템 운영 및 KPI 관리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5" name="Shape 46"/>
          <p:cNvSpPr/>
          <p:nvPr/>
        </p:nvSpPr>
        <p:spPr>
          <a:xfrm>
            <a:off x="6486754" y="4917502"/>
            <a:ext cx="48582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Shape 47"/>
          <p:cNvSpPr/>
          <p:nvPr/>
        </p:nvSpPr>
        <p:spPr>
          <a:xfrm>
            <a:off x="6486754" y="5117756"/>
            <a:ext cx="1399946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7" name="Text 48"/>
          <p:cNvSpPr/>
          <p:nvPr/>
        </p:nvSpPr>
        <p:spPr>
          <a:xfrm>
            <a:off x="6458407" y="5117756"/>
            <a:ext cx="14575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#RevenueManagement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8" name="Shape 49"/>
          <p:cNvSpPr/>
          <p:nvPr/>
        </p:nvSpPr>
        <p:spPr>
          <a:xfrm>
            <a:off x="7957109" y="5117756"/>
            <a:ext cx="952805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9" name="Text 50"/>
          <p:cNvSpPr/>
          <p:nvPr/>
        </p:nvSpPr>
        <p:spPr>
          <a:xfrm>
            <a:off x="7927848" y="5117756"/>
            <a:ext cx="1010412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#DataAnalysis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0" name="Shape 51"/>
          <p:cNvSpPr/>
          <p:nvPr/>
        </p:nvSpPr>
        <p:spPr>
          <a:xfrm>
            <a:off x="8980322" y="5117756"/>
            <a:ext cx="866851" cy="295351"/>
          </a:xfrm>
          <a:prstGeom prst="roundRect">
            <a:avLst>
              <a:gd name="adj" fmla="val 309598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1" name="Text 52"/>
          <p:cNvSpPr/>
          <p:nvPr/>
        </p:nvSpPr>
        <p:spPr>
          <a:xfrm>
            <a:off x="8951976" y="5117756"/>
            <a:ext cx="924458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#SystemDev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2" name="Shape 53"/>
          <p:cNvSpPr/>
          <p:nvPr/>
        </p:nvSpPr>
        <p:spPr>
          <a:xfrm>
            <a:off x="609905" y="979182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73" name="Text 54"/>
          <p:cNvSpPr txBox="1"/>
          <p:nvPr/>
        </p:nvSpPr>
        <p:spPr>
          <a:xfrm>
            <a:off x="1218895" y="381305"/>
            <a:ext cx="3791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Team &amp; Partners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4" name="Text 55"/>
          <p:cNvSpPr txBox="1"/>
          <p:nvPr/>
        </p:nvSpPr>
        <p:spPr>
          <a:xfrm>
            <a:off x="1218895" y="647395"/>
            <a:ext cx="570585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팀 소개 </a:t>
            </a:r>
            <a:r>
              <a:rPr lang="en-US" sz="1800" b="1" kern="0" spc="-67" dirty="0">
                <a:solidFill>
                  <a:srgbClr val="6B728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Expertise &amp; Experience</a:t>
            </a:r>
            <a:endParaRPr lang="en-US" sz="2700" dirty="0"/>
          </a:p>
        </p:txBody>
      </p:sp>
      <p:sp>
        <p:nvSpPr>
          <p:cNvPr id="75" name="Text 56"/>
          <p:cNvSpPr txBox="1"/>
          <p:nvPr/>
        </p:nvSpPr>
        <p:spPr>
          <a:xfrm>
            <a:off x="7637983" y="847649"/>
            <a:ext cx="33430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호텔 실무 14년 이상의 현장 전문가와 개발 파트너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1429207"/>
            <a:ext cx="3504895" cy="5031944"/>
          </a:xfrm>
          <a:prstGeom prst="roundRect">
            <a:avLst>
              <a:gd name="adj" fmla="val 2269"/>
            </a:avLst>
          </a:prstGeom>
          <a:solidFill>
            <a:srgbClr val="152238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049" y="1438351"/>
            <a:ext cx="3486607" cy="135239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19049" y="2781605"/>
            <a:ext cx="34866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7649" y="1666951"/>
            <a:ext cx="1143000" cy="276149"/>
          </a:xfrm>
          <a:prstGeom prst="roundRect">
            <a:avLst>
              <a:gd name="adj" fmla="val 91345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7649" y="1666951"/>
            <a:ext cx="120060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34D3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단계 (Seed)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3610051" y="1628546"/>
            <a:ext cx="304495" cy="30449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47649" y="2052828"/>
            <a:ext cx="32196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기반 조성 및 개발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7649" y="2395728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정부지원사업 및 자체 매출 활용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47649" y="3014777"/>
            <a:ext cx="3029407" cy="1248156"/>
          </a:xfrm>
          <a:prstGeom prst="roundRect">
            <a:avLst>
              <a:gd name="adj" fmla="val 8948"/>
            </a:avLst>
          </a:prstGeom>
          <a:solidFill>
            <a:srgbClr val="1A2A4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47649" y="3014777"/>
            <a:ext cx="28346" cy="1248156"/>
          </a:xfrm>
          <a:prstGeom prst="roundRect">
            <a:avLst>
              <a:gd name="adj" fmla="val 393997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028700" y="3176626"/>
            <a:ext cx="279349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Government Grants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Text 11"/>
          <p:cNvSpPr txBox="1"/>
          <p:nvPr/>
        </p:nvSpPr>
        <p:spPr>
          <a:xfrm>
            <a:off x="1028700" y="3386023"/>
            <a:ext cx="279349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4D3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1.3억원 </a:t>
            </a:r>
            <a:r>
              <a:rPr lang="ko-KR" altLang="en-US" sz="1000" b="1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신청 완료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1206094" y="3748126"/>
            <a:ext cx="258500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초기창업패키지 (1억원)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경남관광스타트업 (3,000만원) 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1028700" y="3781044"/>
            <a:ext cx="105156" cy="114300"/>
          </a:xfrm>
          <a:prstGeom prst="rect">
            <a:avLst/>
          </a:prstGeom>
        </p:spPr>
      </p:pic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rcRect l="-2571" r="-2571"/>
          <a:stretch/>
        </p:blipFill>
        <p:spPr>
          <a:xfrm>
            <a:off x="1028700" y="3954780"/>
            <a:ext cx="105156" cy="1143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47649" y="4447642"/>
            <a:ext cx="3029407" cy="1248156"/>
          </a:xfrm>
          <a:prstGeom prst="roundRect">
            <a:avLst>
              <a:gd name="adj" fmla="val 8948"/>
            </a:avLst>
          </a:prstGeom>
          <a:solidFill>
            <a:srgbClr val="1A2A4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09498" y="4609490"/>
            <a:ext cx="281360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Self-Revenue &amp; Investment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1009498" y="4818888"/>
            <a:ext cx="28959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자체 매출 + 투자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1009498" y="5180990"/>
            <a:ext cx="27816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• RM 교육 및 PMS 데이터 셋업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• MVP 개발 자금 (투자 1,200만원) 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847649" y="5879592"/>
            <a:ext cx="30294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52551" y="6029044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활용 계획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6" name="Text 20"/>
          <p:cNvSpPr txBox="1"/>
          <p:nvPr/>
        </p:nvSpPr>
        <p:spPr>
          <a:xfrm>
            <a:off x="752551" y="6227706"/>
            <a:ext cx="3219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서비스 초기 개발 및 특허 출원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7" name="Shape 21"/>
          <p:cNvSpPr/>
          <p:nvPr/>
        </p:nvSpPr>
        <p:spPr>
          <a:xfrm>
            <a:off x="8076895" y="1429207"/>
            <a:ext cx="3504895" cy="5085893"/>
          </a:xfrm>
          <a:prstGeom prst="roundRect">
            <a:avLst>
              <a:gd name="adj" fmla="val 2269"/>
            </a:avLst>
          </a:prstGeom>
          <a:solidFill>
            <a:srgbClr val="152238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086954" y="1438351"/>
            <a:ext cx="3486607" cy="135239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8086954" y="2781605"/>
            <a:ext cx="3486607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315554" y="1666951"/>
            <a:ext cx="1514246" cy="276149"/>
          </a:xfrm>
          <a:prstGeom prst="roundRect">
            <a:avLst>
              <a:gd name="adj" fmla="val 913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315554" y="1666951"/>
            <a:ext cx="1575511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60A5FA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최종 단계 (Expansion)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/>
          <a:stretch/>
        </p:blipFill>
        <p:spPr>
          <a:xfrm>
            <a:off x="11077956" y="1628546"/>
            <a:ext cx="304495" cy="30449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8315554" y="2052828"/>
            <a:ext cx="32196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민간 투자 유치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4" name="Text 27"/>
          <p:cNvSpPr txBox="1"/>
          <p:nvPr/>
        </p:nvSpPr>
        <p:spPr>
          <a:xfrm>
            <a:off x="8315554" y="2395728"/>
            <a:ext cx="31437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Scale-up 및 글로벌 진출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8315554" y="3014777"/>
            <a:ext cx="3029407" cy="1248156"/>
          </a:xfrm>
          <a:prstGeom prst="roundRect">
            <a:avLst>
              <a:gd name="adj" fmla="val 8948"/>
            </a:avLst>
          </a:prstGeom>
          <a:solidFill>
            <a:srgbClr val="1A2A4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315554" y="3014777"/>
            <a:ext cx="28346" cy="1248156"/>
          </a:xfrm>
          <a:prstGeom prst="roundRect">
            <a:avLst>
              <a:gd name="adj" fmla="val 393997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496605" y="3176626"/>
            <a:ext cx="279349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Series A Investment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8" name="Text 31"/>
          <p:cNvSpPr txBox="1"/>
          <p:nvPr/>
        </p:nvSpPr>
        <p:spPr>
          <a:xfrm>
            <a:off x="8496605" y="3386023"/>
            <a:ext cx="28767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A5FA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민간 투자 유치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9" name="Text 32"/>
          <p:cNvSpPr txBox="1"/>
          <p:nvPr/>
        </p:nvSpPr>
        <p:spPr>
          <a:xfrm>
            <a:off x="8496605" y="3748126"/>
            <a:ext cx="27624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SaaS 반복 수익(MRR) 기반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기업 가치(Valuation) 증대 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0" name="Shape 33"/>
          <p:cNvSpPr/>
          <p:nvPr/>
        </p:nvSpPr>
        <p:spPr>
          <a:xfrm>
            <a:off x="8315554" y="4447642"/>
            <a:ext cx="3029407" cy="1248156"/>
          </a:xfrm>
          <a:prstGeom prst="roundRect">
            <a:avLst>
              <a:gd name="adj" fmla="val 8948"/>
            </a:avLst>
          </a:prstGeom>
          <a:solidFill>
            <a:srgbClr val="1A2A4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8477402" y="4609490"/>
            <a:ext cx="281360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Target Investor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2" name="Text 35"/>
          <p:cNvSpPr txBox="1"/>
          <p:nvPr/>
        </p:nvSpPr>
        <p:spPr>
          <a:xfrm>
            <a:off x="8477402" y="4818888"/>
            <a:ext cx="2813609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전문 VC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3" name="Text 36"/>
          <p:cNvSpPr txBox="1"/>
          <p:nvPr/>
        </p:nvSpPr>
        <p:spPr>
          <a:xfrm>
            <a:off x="8477402" y="5180990"/>
            <a:ext cx="27816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• PropTech 분야 전문 투자사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• 플랫폼 비즈니스 전문 VC 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4" name="Shape 37"/>
          <p:cNvSpPr/>
          <p:nvPr/>
        </p:nvSpPr>
        <p:spPr>
          <a:xfrm>
            <a:off x="8315554" y="5879592"/>
            <a:ext cx="30294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8220456" y="6045978"/>
            <a:ext cx="32196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활용 계획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6" name="Text 39"/>
          <p:cNvSpPr txBox="1"/>
          <p:nvPr/>
        </p:nvSpPr>
        <p:spPr>
          <a:xfrm>
            <a:off x="8220456" y="6236173"/>
            <a:ext cx="32196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글로벌 시장 진출 및 M&amp;A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7" name="Text 40"/>
          <p:cNvSpPr txBox="1"/>
          <p:nvPr/>
        </p:nvSpPr>
        <p:spPr>
          <a:xfrm>
            <a:off x="609905" y="6476695"/>
            <a:ext cx="16102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NOVASTAY Financial Plan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11651932" y="6557504"/>
            <a:ext cx="2103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>
                    <a:alpha val="6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4308653" y="1376172"/>
            <a:ext cx="3581705" cy="5100523"/>
          </a:xfrm>
          <a:prstGeom prst="roundRect">
            <a:avLst>
              <a:gd name="adj" fmla="val 2173"/>
            </a:avLst>
          </a:prstGeom>
          <a:solidFill>
            <a:srgbClr val="233457">
              <a:alpha val="7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4550969" y="2993746"/>
            <a:ext cx="3095244" cy="1276502"/>
          </a:xfrm>
          <a:prstGeom prst="roundRect">
            <a:avLst>
              <a:gd name="adj" fmla="val 8553"/>
            </a:avLst>
          </a:prstGeom>
          <a:solidFill>
            <a:srgbClr val="1A2A4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4550969" y="2993746"/>
            <a:ext cx="28346" cy="1276502"/>
          </a:xfrm>
          <a:prstGeom prst="roundRect">
            <a:avLst>
              <a:gd name="adj" fmla="val 385176"/>
            </a:avLst>
          </a:prstGeom>
          <a:solidFill>
            <a:srgbClr val="C9A84C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4735678" y="3159252"/>
            <a:ext cx="2852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Target Revenue A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3" name="Text 46"/>
          <p:cNvSpPr txBox="1"/>
          <p:nvPr/>
        </p:nvSpPr>
        <p:spPr>
          <a:xfrm>
            <a:off x="4735678" y="3372307"/>
            <a:ext cx="285292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월 3,000만원+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4" name="Text 47"/>
          <p:cNvSpPr txBox="1"/>
          <p:nvPr/>
        </p:nvSpPr>
        <p:spPr>
          <a:xfrm>
            <a:off x="4735678" y="3741725"/>
            <a:ext cx="28200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대형 독립호텔 (30개+)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월 </a:t>
            </a:r>
            <a:r>
              <a:rPr lang="en-US" sz="900" dirty="0" err="1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구독료</a:t>
            </a: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100 ~ 200만원 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5" name="Shape 48"/>
          <p:cNvSpPr/>
          <p:nvPr/>
        </p:nvSpPr>
        <p:spPr>
          <a:xfrm>
            <a:off x="4550969" y="4454957"/>
            <a:ext cx="3095244" cy="1276502"/>
          </a:xfrm>
          <a:prstGeom prst="roundRect">
            <a:avLst>
              <a:gd name="adj" fmla="val 8553"/>
            </a:avLst>
          </a:prstGeom>
          <a:solidFill>
            <a:srgbClr val="1A2A4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4550969" y="4454957"/>
            <a:ext cx="28346" cy="1276502"/>
          </a:xfrm>
          <a:prstGeom prst="roundRect">
            <a:avLst>
              <a:gd name="adj" fmla="val 385176"/>
            </a:avLst>
          </a:prstGeom>
          <a:solidFill>
            <a:srgbClr val="C9A84C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57" name="Text 50"/>
          <p:cNvSpPr txBox="1"/>
          <p:nvPr/>
        </p:nvSpPr>
        <p:spPr>
          <a:xfrm>
            <a:off x="4735678" y="4620463"/>
            <a:ext cx="2852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38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Target Revenue B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8" name="Text 51"/>
          <p:cNvSpPr txBox="1"/>
          <p:nvPr/>
        </p:nvSpPr>
        <p:spPr>
          <a:xfrm>
            <a:off x="4735678" y="4833518"/>
            <a:ext cx="285292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월 5,000만원+</a:t>
            </a:r>
            <a:endParaRPr lang="en-US" sz="15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9" name="Text 52"/>
          <p:cNvSpPr txBox="1"/>
          <p:nvPr/>
        </p:nvSpPr>
        <p:spPr>
          <a:xfrm>
            <a:off x="4735678" y="5202936"/>
            <a:ext cx="28200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중소형 SaaS (100개+)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0" indent="0" algn="l">
              <a:buNone/>
            </a:pP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월 </a:t>
            </a:r>
            <a:r>
              <a:rPr lang="en-US" sz="900" dirty="0" err="1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구독료</a:t>
            </a:r>
            <a:r>
              <a:rPr lang="en-US" sz="900" dirty="0">
                <a:solidFill>
                  <a:srgbClr val="D1D5DB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 50 ~ 150만원 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0" name="Shape 53"/>
          <p:cNvSpPr/>
          <p:nvPr/>
        </p:nvSpPr>
        <p:spPr>
          <a:xfrm>
            <a:off x="4550969" y="5916168"/>
            <a:ext cx="30952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4455871" y="6052343"/>
            <a:ext cx="3286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활용 계획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2" name="Text 55"/>
          <p:cNvSpPr txBox="1"/>
          <p:nvPr/>
        </p:nvSpPr>
        <p:spPr>
          <a:xfrm>
            <a:off x="4455871" y="6255577"/>
            <a:ext cx="32863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기술 고도화 및 마케팅 확장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3" name="Shape 56"/>
          <p:cNvSpPr/>
          <p:nvPr/>
        </p:nvSpPr>
        <p:spPr>
          <a:xfrm>
            <a:off x="4317797" y="1385316"/>
            <a:ext cx="3562502" cy="1380744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64" name="Shape 57"/>
          <p:cNvSpPr/>
          <p:nvPr/>
        </p:nvSpPr>
        <p:spPr>
          <a:xfrm>
            <a:off x="4317797" y="2756916"/>
            <a:ext cx="35625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58"/>
          <p:cNvSpPr/>
          <p:nvPr/>
        </p:nvSpPr>
        <p:spPr>
          <a:xfrm>
            <a:off x="4550969" y="1618488"/>
            <a:ext cx="1380744" cy="286207"/>
          </a:xfrm>
          <a:prstGeom prst="roundRect">
            <a:avLst>
              <a:gd name="adj" fmla="val 85197"/>
            </a:avLst>
          </a:prstGeom>
          <a:solidFill>
            <a:srgbClr val="C9A84C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59"/>
          <p:cNvSpPr txBox="1"/>
          <p:nvPr/>
        </p:nvSpPr>
        <p:spPr>
          <a:xfrm>
            <a:off x="4550969" y="1618488"/>
            <a:ext cx="1438351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63500" rIns="114300" bIns="63500" rtlCol="0" anchor="ctr"/>
          <a:lstStyle/>
          <a:p>
            <a:pPr marL="0" indent="0" algn="l">
              <a:buNone/>
            </a:pPr>
            <a:r>
              <a:rPr lang="en-US" sz="800" b="1" kern="0" spc="75" dirty="0">
                <a:solidFill>
                  <a:srgbClr val="C9A84C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중간 단계 (Growth)</a:t>
            </a:r>
            <a:endParaRPr lang="en-US" sz="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7" name="Image 5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7359091" y="1580083"/>
            <a:ext cx="323698" cy="323698"/>
          </a:xfrm>
          <a:prstGeom prst="rect">
            <a:avLst/>
          </a:prstGeom>
        </p:spPr>
      </p:pic>
      <p:sp>
        <p:nvSpPr>
          <p:cNvPr id="68" name="Text 60"/>
          <p:cNvSpPr txBox="1"/>
          <p:nvPr/>
        </p:nvSpPr>
        <p:spPr>
          <a:xfrm>
            <a:off x="4550969" y="2012594"/>
            <a:ext cx="3286354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매출 기반 성장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69" name="Text 61"/>
          <p:cNvSpPr txBox="1"/>
          <p:nvPr/>
        </p:nvSpPr>
        <p:spPr>
          <a:xfrm>
            <a:off x="4550969" y="2361895"/>
            <a:ext cx="3286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서비스 판매 수익 본격화</a:t>
            </a:r>
            <a:endParaRPr lang="en-US" sz="9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70" name="Image 6" descr="preencoded.png"/>
          <p:cNvPicPr>
            <a:picLocks noChangeAspect="1"/>
          </p:cNvPicPr>
          <p:nvPr/>
        </p:nvPicPr>
        <p:blipFill>
          <a:blip r:embed="rId8"/>
          <a:srcRect l="-1385" r="-1385"/>
          <a:stretch/>
        </p:blipFill>
        <p:spPr>
          <a:xfrm>
            <a:off x="7961681" y="3956609"/>
            <a:ext cx="152705" cy="237744"/>
          </a:xfrm>
          <a:prstGeom prst="rect">
            <a:avLst/>
          </a:prstGeom>
        </p:spPr>
      </p:pic>
      <p:pic>
        <p:nvPicPr>
          <p:cNvPr id="71" name="Image 7" descr="preencoded.png"/>
          <p:cNvPicPr>
            <a:picLocks noChangeAspect="1"/>
          </p:cNvPicPr>
          <p:nvPr/>
        </p:nvPicPr>
        <p:blipFill>
          <a:blip r:embed="rId9"/>
          <a:srcRect t="-80" b="-80"/>
          <a:stretch/>
        </p:blipFill>
        <p:spPr>
          <a:xfrm>
            <a:off x="4190695" y="3959352"/>
            <a:ext cx="142646" cy="228600"/>
          </a:xfrm>
          <a:prstGeom prst="rect">
            <a:avLst/>
          </a:prstGeom>
        </p:spPr>
      </p:pic>
      <p:sp>
        <p:nvSpPr>
          <p:cNvPr id="72" name="Shape 62"/>
          <p:cNvSpPr/>
          <p:nvPr/>
        </p:nvSpPr>
        <p:spPr>
          <a:xfrm>
            <a:off x="609905" y="1114654"/>
            <a:ext cx="10972800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73" name="Text 63"/>
          <p:cNvSpPr txBox="1"/>
          <p:nvPr/>
        </p:nvSpPr>
        <p:spPr>
          <a:xfrm>
            <a:off x="1218895" y="381305"/>
            <a:ext cx="44577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Funding Strategy</a:t>
            </a:r>
            <a:endParaRPr lang="en-US" sz="1000" dirty="0"/>
          </a:p>
        </p:txBody>
      </p:sp>
      <p:sp>
        <p:nvSpPr>
          <p:cNvPr id="74" name="Text 64"/>
          <p:cNvSpPr txBox="1"/>
          <p:nvPr/>
        </p:nvSpPr>
        <p:spPr>
          <a:xfrm>
            <a:off x="1218895" y="647395"/>
            <a:ext cx="626912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자금 조달 계획 </a:t>
            </a:r>
            <a:r>
              <a:rPr lang="en-US" sz="1800" b="1" kern="0" spc="-67" dirty="0">
                <a:solidFill>
                  <a:srgbClr val="6B7280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Financial Roadmap</a:t>
            </a:r>
            <a:endParaRPr lang="en-US" sz="27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5" name="Text 65"/>
          <p:cNvSpPr txBox="1"/>
          <p:nvPr/>
        </p:nvSpPr>
        <p:spPr>
          <a:xfrm>
            <a:off x="8629193" y="847649"/>
            <a:ext cx="23454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성장 단계별 안정적 자금 확보 전략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38805" y="571500"/>
            <a:ext cx="5715000" cy="5715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308092" y="820217"/>
            <a:ext cx="1580998" cy="9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269687" y="381305"/>
            <a:ext cx="16578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360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erif KR" pitchFamily="34" charset="-120"/>
              </a:rPr>
              <a:t>NOVASTAY</a:t>
            </a:r>
            <a:endParaRPr lang="en-US" sz="1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160166" y="1399946"/>
            <a:ext cx="58777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 RM 없이도,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3131820" y="1895551"/>
            <a:ext cx="5934456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AI</a:t>
            </a:r>
            <a:r>
              <a:rPr lang="en-US" sz="4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가 </a:t>
            </a:r>
            <a:r>
              <a:rPr lang="en-US" sz="4200" b="1" dirty="0">
                <a:solidFill>
                  <a:srgbClr val="C9A84C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최적의 판매 전략</a:t>
            </a:r>
            <a:r>
              <a:rPr lang="en-US" sz="4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을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만듭니다 </a:t>
            </a:r>
            <a:endParaRPr lang="en-US" sz="4200" dirty="0"/>
          </a:p>
        </p:txBody>
      </p:sp>
      <p:sp>
        <p:nvSpPr>
          <p:cNvPr id="9" name="Shape 5"/>
          <p:cNvSpPr/>
          <p:nvPr/>
        </p:nvSpPr>
        <p:spPr>
          <a:xfrm>
            <a:off x="3047695" y="4128516"/>
            <a:ext cx="761695" cy="761695"/>
          </a:xfrm>
          <a:prstGeom prst="ellipse">
            <a:avLst/>
          </a:prstGeom>
          <a:solidFill>
            <a:srgbClr val="152238">
              <a:alpha val="6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76295" y="4357116"/>
            <a:ext cx="304495" cy="30449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917850" y="5080406"/>
            <a:ext cx="10241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수익 극대화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2575865" y="5414162"/>
            <a:ext cx="171084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중소 호텔 매출 구조 개선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5715000" y="4128516"/>
            <a:ext cx="761695" cy="761695"/>
          </a:xfrm>
          <a:prstGeom prst="ellipse">
            <a:avLst/>
          </a:prstGeom>
          <a:solidFill>
            <a:srgbClr val="152238">
              <a:alpha val="6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43600" y="4357116"/>
            <a:ext cx="304495" cy="3044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401361" y="5080406"/>
            <a:ext cx="138988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데이터 의사결정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5284318" y="5414162"/>
            <a:ext cx="16276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객관적 데이터 기반 분석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8382305" y="4128516"/>
            <a:ext cx="761695" cy="761695"/>
          </a:xfrm>
          <a:prstGeom prst="ellipse">
            <a:avLst/>
          </a:prstGeom>
          <a:solidFill>
            <a:srgbClr val="152238">
              <a:alpha val="60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8572500" y="4357116"/>
            <a:ext cx="381305" cy="30449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251546" y="5080406"/>
            <a:ext cx="102412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전략 자동화</a:t>
            </a:r>
            <a:endParaRPr lang="en-US" sz="13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0" name="Text 13"/>
          <p:cNvSpPr txBox="1"/>
          <p:nvPr/>
        </p:nvSpPr>
        <p:spPr>
          <a:xfrm>
            <a:off x="7951622" y="5414162"/>
            <a:ext cx="16276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실행 가능한 전략 패키지</a:t>
            </a:r>
            <a:endParaRPr lang="en-US" sz="1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2788920" y="6281014"/>
            <a:ext cx="6620256" cy="543154"/>
          </a:xfrm>
          <a:prstGeom prst="roundRect">
            <a:avLst>
              <a:gd name="adj" fmla="val 16835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3150108" y="6281014"/>
            <a:ext cx="53401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0" dirty="0">
                <a:solidFill>
                  <a:srgbClr val="000000"/>
                </a:solidFill>
                <a:latin typeface="ui-serif" pitchFamily="34" charset="0"/>
                <a:ea typeface="ui-serif" pitchFamily="34" charset="-122"/>
                <a:cs typeface="ui-serif" pitchFamily="34" charset="-120"/>
              </a:rPr>
              <a:t>Vision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3762757" y="6281014"/>
            <a:ext cx="2758743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국내 독립형 호텔 특화 수익관리 1위 플랫폼</a:t>
            </a:r>
            <a:endParaRPr lang="en-US" sz="11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6667805" y="6483096"/>
            <a:ext cx="114300" cy="13350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933895" y="6281014"/>
            <a:ext cx="2210105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Noto Sans KR" pitchFamily="34" charset="-120"/>
              </a:rPr>
              <a:t>글로벌 호텔 운영 솔루션 기업 도약</a:t>
            </a:r>
            <a:endParaRPr lang="en-US" sz="11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1524305" y="7199986"/>
            <a:ext cx="91440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 l="-133" r="-133"/>
          <a:stretch/>
        </p:blipFill>
        <p:spPr>
          <a:xfrm>
            <a:off x="2367382" y="7538314"/>
            <a:ext cx="85954" cy="1143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2457907" y="7495337"/>
            <a:ext cx="13240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주식회사 노바스테이</a:t>
            </a:r>
            <a:endParaRPr lang="en-US" sz="10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rcRect l="-2571" r="-2571"/>
          <a:stretch/>
        </p:blipFill>
        <p:spPr>
          <a:xfrm>
            <a:off x="4070909" y="7538314"/>
            <a:ext cx="105156" cy="1143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4212641" y="7495337"/>
            <a:ext cx="7735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문병윤</a:t>
            </a:r>
            <a:endParaRPr lang="en-US" sz="10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rcRect l="-133" r="-133"/>
          <a:stretch/>
        </p:blipFill>
        <p:spPr>
          <a:xfrm>
            <a:off x="5302606" y="7538314"/>
            <a:ext cx="85954" cy="114300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5230368" y="7495337"/>
            <a:ext cx="2774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경남 진주시 북장대로21번길 5-3(인사동)</a:t>
            </a:r>
            <a:endParaRPr lang="en-US" sz="10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126273" y="7538314"/>
            <a:ext cx="114300" cy="114300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8193938" y="7495337"/>
            <a:ext cx="178033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contact@novastay.co.kr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1647</TotalTime>
  <Words>2877</Words>
  <Application>Microsoft Office PowerPoint</Application>
  <PresentationFormat>와이드스크린</PresentationFormat>
  <Paragraphs>485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HY헤드라인M</vt:lpstr>
      <vt:lpstr>Noto Sans KR</vt:lpstr>
      <vt:lpstr>Noto Serif KR</vt:lpstr>
      <vt:lpstr>ui-serif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지원부장</cp:lastModifiedBy>
  <cp:revision>20</cp:revision>
  <dcterms:created xsi:type="dcterms:W3CDTF">2026-03-09T07:34:58Z</dcterms:created>
  <dcterms:modified xsi:type="dcterms:W3CDTF">2026-03-13T00:34:50Z</dcterms:modified>
</cp:coreProperties>
</file>